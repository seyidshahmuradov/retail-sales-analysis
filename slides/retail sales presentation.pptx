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E8FCC2D-6C84-4B80-9A74-677530FF3EF5}" type="doc">
      <dgm:prSet loTypeId="urn:microsoft.com/office/officeart/2005/8/layout/hierarchy1" loCatId="hierarchy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A1081EB-3668-47AF-BDC7-13A57738BC7D}">
      <dgm:prSet/>
      <dgm:spPr/>
      <dgm:t>
        <a:bodyPr/>
        <a:lstStyle/>
        <a:p>
          <a:r>
            <a:rPr lang="en-US" b="1"/>
            <a:t>Receipts</a:t>
          </a:r>
          <a:r>
            <a:rPr lang="en-US"/>
            <a:t> – Satış qəbzləri (10M sətr, 6 sütun)</a:t>
          </a:r>
        </a:p>
      </dgm:t>
    </dgm:pt>
    <dgm:pt modelId="{5EC5C1E5-257A-452B-A3C4-334300DFB8C3}" type="parTrans" cxnId="{D9F240AF-1A30-4E36-B917-6CCAB484B224}">
      <dgm:prSet/>
      <dgm:spPr/>
      <dgm:t>
        <a:bodyPr/>
        <a:lstStyle/>
        <a:p>
          <a:endParaRPr lang="en-US"/>
        </a:p>
      </dgm:t>
    </dgm:pt>
    <dgm:pt modelId="{7D740373-8B57-4E62-BDCF-481AA7C6EC07}" type="sibTrans" cxnId="{D9F240AF-1A30-4E36-B917-6CCAB484B224}">
      <dgm:prSet/>
      <dgm:spPr/>
      <dgm:t>
        <a:bodyPr/>
        <a:lstStyle/>
        <a:p>
          <a:endParaRPr lang="en-US"/>
        </a:p>
      </dgm:t>
    </dgm:pt>
    <dgm:pt modelId="{06F229EA-D540-449E-AA01-38F2FF4FFBF2}">
      <dgm:prSet/>
      <dgm:spPr/>
      <dgm:t>
        <a:bodyPr/>
        <a:lstStyle/>
        <a:p>
          <a:r>
            <a:rPr lang="en-US" b="1"/>
            <a:t>Map</a:t>
          </a:r>
          <a:r>
            <a:rPr lang="en-US"/>
            <a:t> – Məhsul məlumatları və mənfəət marjası (118K sətr, 4 sütun)</a:t>
          </a:r>
        </a:p>
      </dgm:t>
    </dgm:pt>
    <dgm:pt modelId="{BACB4D27-7C0F-43CE-87FF-53DA28EC9DD7}" type="parTrans" cxnId="{4A85B36F-6D0B-4566-A97A-78F6ADB32E62}">
      <dgm:prSet/>
      <dgm:spPr/>
      <dgm:t>
        <a:bodyPr/>
        <a:lstStyle/>
        <a:p>
          <a:endParaRPr lang="en-US"/>
        </a:p>
      </dgm:t>
    </dgm:pt>
    <dgm:pt modelId="{6C1D2FB2-EA52-4EF3-9BC8-9E4D4854CB3C}" type="sibTrans" cxnId="{4A85B36F-6D0B-4566-A97A-78F6ADB32E62}">
      <dgm:prSet/>
      <dgm:spPr/>
      <dgm:t>
        <a:bodyPr/>
        <a:lstStyle/>
        <a:p>
          <a:endParaRPr lang="en-US"/>
        </a:p>
      </dgm:t>
    </dgm:pt>
    <dgm:pt modelId="{565D2100-F864-4665-B6ED-A6F97C226903}">
      <dgm:prSet/>
      <dgm:spPr/>
      <dgm:t>
        <a:bodyPr/>
        <a:lstStyle/>
        <a:p>
          <a:r>
            <a:rPr lang="en-US" b="1"/>
            <a:t>Full_tab</a:t>
          </a:r>
          <a:r>
            <a:rPr lang="en-US"/>
            <a:t> – Təmizlənmiş və birləşdirilmiş data (640K sətr, 11 sütun)</a:t>
          </a:r>
        </a:p>
      </dgm:t>
    </dgm:pt>
    <dgm:pt modelId="{350C92C3-8465-4CA2-A239-07448993D8BC}" type="parTrans" cxnId="{D70EDD4F-DC2E-4441-886D-0493FCBD7A95}">
      <dgm:prSet/>
      <dgm:spPr/>
      <dgm:t>
        <a:bodyPr/>
        <a:lstStyle/>
        <a:p>
          <a:endParaRPr lang="en-US"/>
        </a:p>
      </dgm:t>
    </dgm:pt>
    <dgm:pt modelId="{8120ACE2-F13B-4829-B86F-2AF7EE20C1C3}" type="sibTrans" cxnId="{D70EDD4F-DC2E-4441-886D-0493FCBD7A95}">
      <dgm:prSet/>
      <dgm:spPr/>
      <dgm:t>
        <a:bodyPr/>
        <a:lstStyle/>
        <a:p>
          <a:endParaRPr lang="en-US"/>
        </a:p>
      </dgm:t>
    </dgm:pt>
    <dgm:pt modelId="{CA2801A0-3D06-4F3D-802A-780B67544DD5}" type="pres">
      <dgm:prSet presAssocID="{0E8FCC2D-6C84-4B80-9A74-677530FF3EF5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C82F97B-38C8-4004-B63B-1347E5562721}" type="pres">
      <dgm:prSet presAssocID="{7A1081EB-3668-47AF-BDC7-13A57738BC7D}" presName="hierRoot1" presStyleCnt="0"/>
      <dgm:spPr/>
    </dgm:pt>
    <dgm:pt modelId="{FBCB7997-98DD-423E-A18B-191B6164D34E}" type="pres">
      <dgm:prSet presAssocID="{7A1081EB-3668-47AF-BDC7-13A57738BC7D}" presName="composite" presStyleCnt="0"/>
      <dgm:spPr/>
    </dgm:pt>
    <dgm:pt modelId="{E4226CF7-437F-417C-9382-F27773343C03}" type="pres">
      <dgm:prSet presAssocID="{7A1081EB-3668-47AF-BDC7-13A57738BC7D}" presName="background" presStyleLbl="node0" presStyleIdx="0" presStyleCnt="3"/>
      <dgm:spPr/>
    </dgm:pt>
    <dgm:pt modelId="{AACBCFBC-C401-40DC-9667-312D0255070E}" type="pres">
      <dgm:prSet presAssocID="{7A1081EB-3668-47AF-BDC7-13A57738BC7D}" presName="text" presStyleLbl="fgAcc0" presStyleIdx="0" presStyleCnt="3">
        <dgm:presLayoutVars>
          <dgm:chPref val="3"/>
        </dgm:presLayoutVars>
      </dgm:prSet>
      <dgm:spPr/>
    </dgm:pt>
    <dgm:pt modelId="{CE57FD89-1C0B-4E91-8807-DF25DB7FEBAF}" type="pres">
      <dgm:prSet presAssocID="{7A1081EB-3668-47AF-BDC7-13A57738BC7D}" presName="hierChild2" presStyleCnt="0"/>
      <dgm:spPr/>
    </dgm:pt>
    <dgm:pt modelId="{63058617-2F23-4DE7-84CD-52B3B1270FED}" type="pres">
      <dgm:prSet presAssocID="{06F229EA-D540-449E-AA01-38F2FF4FFBF2}" presName="hierRoot1" presStyleCnt="0"/>
      <dgm:spPr/>
    </dgm:pt>
    <dgm:pt modelId="{8CDBCAC8-2642-4F58-B176-A1ACBA88BBC8}" type="pres">
      <dgm:prSet presAssocID="{06F229EA-D540-449E-AA01-38F2FF4FFBF2}" presName="composite" presStyleCnt="0"/>
      <dgm:spPr/>
    </dgm:pt>
    <dgm:pt modelId="{D3D151D5-B36B-4A3C-B53B-D707BF15DB6F}" type="pres">
      <dgm:prSet presAssocID="{06F229EA-D540-449E-AA01-38F2FF4FFBF2}" presName="background" presStyleLbl="node0" presStyleIdx="1" presStyleCnt="3"/>
      <dgm:spPr/>
    </dgm:pt>
    <dgm:pt modelId="{DDE4EDF8-0A13-4202-8B74-8AD930AF18EE}" type="pres">
      <dgm:prSet presAssocID="{06F229EA-D540-449E-AA01-38F2FF4FFBF2}" presName="text" presStyleLbl="fgAcc0" presStyleIdx="1" presStyleCnt="3">
        <dgm:presLayoutVars>
          <dgm:chPref val="3"/>
        </dgm:presLayoutVars>
      </dgm:prSet>
      <dgm:spPr/>
    </dgm:pt>
    <dgm:pt modelId="{323262D8-30B9-4A2D-90BC-D1C9002B6F31}" type="pres">
      <dgm:prSet presAssocID="{06F229EA-D540-449E-AA01-38F2FF4FFBF2}" presName="hierChild2" presStyleCnt="0"/>
      <dgm:spPr/>
    </dgm:pt>
    <dgm:pt modelId="{CF3D1194-5F3A-4BF2-8E84-D4CDD4E1578E}" type="pres">
      <dgm:prSet presAssocID="{565D2100-F864-4665-B6ED-A6F97C226903}" presName="hierRoot1" presStyleCnt="0"/>
      <dgm:spPr/>
    </dgm:pt>
    <dgm:pt modelId="{99C10A24-CE50-430A-A5F4-6EDE254F7901}" type="pres">
      <dgm:prSet presAssocID="{565D2100-F864-4665-B6ED-A6F97C226903}" presName="composite" presStyleCnt="0"/>
      <dgm:spPr/>
    </dgm:pt>
    <dgm:pt modelId="{F85E3D4A-07C2-414F-8747-157BC849806A}" type="pres">
      <dgm:prSet presAssocID="{565D2100-F864-4665-B6ED-A6F97C226903}" presName="background" presStyleLbl="node0" presStyleIdx="2" presStyleCnt="3"/>
      <dgm:spPr/>
    </dgm:pt>
    <dgm:pt modelId="{D29257FD-88E0-40E9-8174-6F56A1C511E1}" type="pres">
      <dgm:prSet presAssocID="{565D2100-F864-4665-B6ED-A6F97C226903}" presName="text" presStyleLbl="fgAcc0" presStyleIdx="2" presStyleCnt="3">
        <dgm:presLayoutVars>
          <dgm:chPref val="3"/>
        </dgm:presLayoutVars>
      </dgm:prSet>
      <dgm:spPr/>
    </dgm:pt>
    <dgm:pt modelId="{71B9EF97-839E-477D-AD24-E7D9527306C4}" type="pres">
      <dgm:prSet presAssocID="{565D2100-F864-4665-B6ED-A6F97C226903}" presName="hierChild2" presStyleCnt="0"/>
      <dgm:spPr/>
    </dgm:pt>
  </dgm:ptLst>
  <dgm:cxnLst>
    <dgm:cxn modelId="{9F3D0D43-D307-4E49-B213-4CD3DEB1FEF4}" type="presOf" srcId="{565D2100-F864-4665-B6ED-A6F97C226903}" destId="{D29257FD-88E0-40E9-8174-6F56A1C511E1}" srcOrd="0" destOrd="0" presId="urn:microsoft.com/office/officeart/2005/8/layout/hierarchy1"/>
    <dgm:cxn modelId="{34E80E6A-E5A8-47F4-A885-0402DDB1D3C0}" type="presOf" srcId="{0E8FCC2D-6C84-4B80-9A74-677530FF3EF5}" destId="{CA2801A0-3D06-4F3D-802A-780B67544DD5}" srcOrd="0" destOrd="0" presId="urn:microsoft.com/office/officeart/2005/8/layout/hierarchy1"/>
    <dgm:cxn modelId="{4A85B36F-6D0B-4566-A97A-78F6ADB32E62}" srcId="{0E8FCC2D-6C84-4B80-9A74-677530FF3EF5}" destId="{06F229EA-D540-449E-AA01-38F2FF4FFBF2}" srcOrd="1" destOrd="0" parTransId="{BACB4D27-7C0F-43CE-87FF-53DA28EC9DD7}" sibTransId="{6C1D2FB2-EA52-4EF3-9BC8-9E4D4854CB3C}"/>
    <dgm:cxn modelId="{D70EDD4F-DC2E-4441-886D-0493FCBD7A95}" srcId="{0E8FCC2D-6C84-4B80-9A74-677530FF3EF5}" destId="{565D2100-F864-4665-B6ED-A6F97C226903}" srcOrd="2" destOrd="0" parTransId="{350C92C3-8465-4CA2-A239-07448993D8BC}" sibTransId="{8120ACE2-F13B-4829-B86F-2AF7EE20C1C3}"/>
    <dgm:cxn modelId="{ADA60586-5FE3-4A4E-8CF7-23F1863ABD14}" type="presOf" srcId="{7A1081EB-3668-47AF-BDC7-13A57738BC7D}" destId="{AACBCFBC-C401-40DC-9667-312D0255070E}" srcOrd="0" destOrd="0" presId="urn:microsoft.com/office/officeart/2005/8/layout/hierarchy1"/>
    <dgm:cxn modelId="{D9F240AF-1A30-4E36-B917-6CCAB484B224}" srcId="{0E8FCC2D-6C84-4B80-9A74-677530FF3EF5}" destId="{7A1081EB-3668-47AF-BDC7-13A57738BC7D}" srcOrd="0" destOrd="0" parTransId="{5EC5C1E5-257A-452B-A3C4-334300DFB8C3}" sibTransId="{7D740373-8B57-4E62-BDCF-481AA7C6EC07}"/>
    <dgm:cxn modelId="{1AF685BE-1C1D-46A5-8DE3-91CD3757D518}" type="presOf" srcId="{06F229EA-D540-449E-AA01-38F2FF4FFBF2}" destId="{DDE4EDF8-0A13-4202-8B74-8AD930AF18EE}" srcOrd="0" destOrd="0" presId="urn:microsoft.com/office/officeart/2005/8/layout/hierarchy1"/>
    <dgm:cxn modelId="{A3F228FD-C7FC-4597-8821-5C6F1562BFCF}" type="presParOf" srcId="{CA2801A0-3D06-4F3D-802A-780B67544DD5}" destId="{9C82F97B-38C8-4004-B63B-1347E5562721}" srcOrd="0" destOrd="0" presId="urn:microsoft.com/office/officeart/2005/8/layout/hierarchy1"/>
    <dgm:cxn modelId="{8B6B3FB6-45D2-4F2D-86FC-2F12D31C230F}" type="presParOf" srcId="{9C82F97B-38C8-4004-B63B-1347E5562721}" destId="{FBCB7997-98DD-423E-A18B-191B6164D34E}" srcOrd="0" destOrd="0" presId="urn:microsoft.com/office/officeart/2005/8/layout/hierarchy1"/>
    <dgm:cxn modelId="{785D1E11-7B06-4699-B7F9-3C61D8CDB870}" type="presParOf" srcId="{FBCB7997-98DD-423E-A18B-191B6164D34E}" destId="{E4226CF7-437F-417C-9382-F27773343C03}" srcOrd="0" destOrd="0" presId="urn:microsoft.com/office/officeart/2005/8/layout/hierarchy1"/>
    <dgm:cxn modelId="{27D91B81-2E9E-4463-B450-E04B6618CCFE}" type="presParOf" srcId="{FBCB7997-98DD-423E-A18B-191B6164D34E}" destId="{AACBCFBC-C401-40DC-9667-312D0255070E}" srcOrd="1" destOrd="0" presId="urn:microsoft.com/office/officeart/2005/8/layout/hierarchy1"/>
    <dgm:cxn modelId="{6C38C626-0D9A-4207-AE00-A0F478FAD6B3}" type="presParOf" srcId="{9C82F97B-38C8-4004-B63B-1347E5562721}" destId="{CE57FD89-1C0B-4E91-8807-DF25DB7FEBAF}" srcOrd="1" destOrd="0" presId="urn:microsoft.com/office/officeart/2005/8/layout/hierarchy1"/>
    <dgm:cxn modelId="{470472C7-4D4D-4608-9529-FBB29B7A9C0A}" type="presParOf" srcId="{CA2801A0-3D06-4F3D-802A-780B67544DD5}" destId="{63058617-2F23-4DE7-84CD-52B3B1270FED}" srcOrd="1" destOrd="0" presId="urn:microsoft.com/office/officeart/2005/8/layout/hierarchy1"/>
    <dgm:cxn modelId="{BCB06531-6139-4290-AB7B-52B031358447}" type="presParOf" srcId="{63058617-2F23-4DE7-84CD-52B3B1270FED}" destId="{8CDBCAC8-2642-4F58-B176-A1ACBA88BBC8}" srcOrd="0" destOrd="0" presId="urn:microsoft.com/office/officeart/2005/8/layout/hierarchy1"/>
    <dgm:cxn modelId="{034869AC-15E8-44D8-9587-46D5669D250E}" type="presParOf" srcId="{8CDBCAC8-2642-4F58-B176-A1ACBA88BBC8}" destId="{D3D151D5-B36B-4A3C-B53B-D707BF15DB6F}" srcOrd="0" destOrd="0" presId="urn:microsoft.com/office/officeart/2005/8/layout/hierarchy1"/>
    <dgm:cxn modelId="{1E69BB37-03CC-496B-B961-2096186C0910}" type="presParOf" srcId="{8CDBCAC8-2642-4F58-B176-A1ACBA88BBC8}" destId="{DDE4EDF8-0A13-4202-8B74-8AD930AF18EE}" srcOrd="1" destOrd="0" presId="urn:microsoft.com/office/officeart/2005/8/layout/hierarchy1"/>
    <dgm:cxn modelId="{974D5F45-0AF5-4E87-B2BA-A58E53E0DDF6}" type="presParOf" srcId="{63058617-2F23-4DE7-84CD-52B3B1270FED}" destId="{323262D8-30B9-4A2D-90BC-D1C9002B6F31}" srcOrd="1" destOrd="0" presId="urn:microsoft.com/office/officeart/2005/8/layout/hierarchy1"/>
    <dgm:cxn modelId="{1C6B884A-6C97-40E6-9FA2-5A6B1C8A446A}" type="presParOf" srcId="{CA2801A0-3D06-4F3D-802A-780B67544DD5}" destId="{CF3D1194-5F3A-4BF2-8E84-D4CDD4E1578E}" srcOrd="2" destOrd="0" presId="urn:microsoft.com/office/officeart/2005/8/layout/hierarchy1"/>
    <dgm:cxn modelId="{AE6A0AAC-4A29-4BB6-9CCE-FDFF5BFB6E47}" type="presParOf" srcId="{CF3D1194-5F3A-4BF2-8E84-D4CDD4E1578E}" destId="{99C10A24-CE50-430A-A5F4-6EDE254F7901}" srcOrd="0" destOrd="0" presId="urn:microsoft.com/office/officeart/2005/8/layout/hierarchy1"/>
    <dgm:cxn modelId="{5C1AD26C-BE10-4A3E-99CC-2B0289B037C8}" type="presParOf" srcId="{99C10A24-CE50-430A-A5F4-6EDE254F7901}" destId="{F85E3D4A-07C2-414F-8747-157BC849806A}" srcOrd="0" destOrd="0" presId="urn:microsoft.com/office/officeart/2005/8/layout/hierarchy1"/>
    <dgm:cxn modelId="{70E9080D-4D4D-4D99-9B74-0AEFFE94D184}" type="presParOf" srcId="{99C10A24-CE50-430A-A5F4-6EDE254F7901}" destId="{D29257FD-88E0-40E9-8174-6F56A1C511E1}" srcOrd="1" destOrd="0" presId="urn:microsoft.com/office/officeart/2005/8/layout/hierarchy1"/>
    <dgm:cxn modelId="{CA9C8F76-0F75-4B9E-A289-64954B27C0A2}" type="presParOf" srcId="{CF3D1194-5F3A-4BF2-8E84-D4CDD4E1578E}" destId="{71B9EF97-839E-477D-AD24-E7D9527306C4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CEA3460-3870-4B52-9F59-9A817C7C508B}" type="doc">
      <dgm:prSet loTypeId="urn:microsoft.com/office/officeart/2005/8/layout/vProcess5" loCatId="process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3552712-E5B4-44C3-814B-CE5351295F1E}">
      <dgm:prSet/>
      <dgm:spPr/>
      <dgm:t>
        <a:bodyPr/>
        <a:lstStyle/>
        <a:p>
          <a:r>
            <a:rPr lang="en-US" b="0" i="0" baseline="0"/>
            <a:t>Həftənin günləri üzrə satış və mənfəət</a:t>
          </a:r>
          <a:endParaRPr lang="en-US"/>
        </a:p>
      </dgm:t>
    </dgm:pt>
    <dgm:pt modelId="{6057D6A2-2BE1-4FFE-BD99-92D2FA02F94B}" type="parTrans" cxnId="{5210053E-7B29-4347-8748-9BC0661F118F}">
      <dgm:prSet/>
      <dgm:spPr/>
      <dgm:t>
        <a:bodyPr/>
        <a:lstStyle/>
        <a:p>
          <a:endParaRPr lang="en-US"/>
        </a:p>
      </dgm:t>
    </dgm:pt>
    <dgm:pt modelId="{1AA20541-8DEA-469F-A748-F2F656FF9573}" type="sibTrans" cxnId="{5210053E-7B29-4347-8748-9BC0661F118F}">
      <dgm:prSet/>
      <dgm:spPr/>
      <dgm:t>
        <a:bodyPr/>
        <a:lstStyle/>
        <a:p>
          <a:endParaRPr lang="en-US"/>
        </a:p>
      </dgm:t>
    </dgm:pt>
    <dgm:pt modelId="{1451B3E5-BE50-40E2-88DD-365375DEA99C}">
      <dgm:prSet/>
      <dgm:spPr/>
      <dgm:t>
        <a:bodyPr/>
        <a:lstStyle/>
        <a:p>
          <a:r>
            <a:rPr lang="en-US" b="0" i="0" baseline="0"/>
            <a:t>POS (satış nöqtələri) üzrə təhlil</a:t>
          </a:r>
          <a:endParaRPr lang="en-US"/>
        </a:p>
      </dgm:t>
    </dgm:pt>
    <dgm:pt modelId="{35A95BE2-3EFE-47E7-A86D-F0495471D6E9}" type="parTrans" cxnId="{6914330B-E0DC-4FF6-B93F-B6AD55084A41}">
      <dgm:prSet/>
      <dgm:spPr/>
      <dgm:t>
        <a:bodyPr/>
        <a:lstStyle/>
        <a:p>
          <a:endParaRPr lang="en-US"/>
        </a:p>
      </dgm:t>
    </dgm:pt>
    <dgm:pt modelId="{E95B91A3-47C6-48F5-95BD-6E162D74CF0E}" type="sibTrans" cxnId="{6914330B-E0DC-4FF6-B93F-B6AD55084A41}">
      <dgm:prSet/>
      <dgm:spPr/>
      <dgm:t>
        <a:bodyPr/>
        <a:lstStyle/>
        <a:p>
          <a:endParaRPr lang="en-US"/>
        </a:p>
      </dgm:t>
    </dgm:pt>
    <dgm:pt modelId="{1EFD2E85-EF0C-41A2-AFE1-9F4B9A39EA3F}">
      <dgm:prSet/>
      <dgm:spPr/>
      <dgm:t>
        <a:bodyPr/>
        <a:lstStyle/>
        <a:p>
          <a:r>
            <a:rPr lang="en-US" b="0" i="0" baseline="0"/>
            <a:t>Tarixlər üzrə satış və qəbz sayı</a:t>
          </a:r>
          <a:endParaRPr lang="en-US"/>
        </a:p>
      </dgm:t>
    </dgm:pt>
    <dgm:pt modelId="{CBCB0599-DADC-47CE-88BC-7063135EDC8B}" type="parTrans" cxnId="{77DBBAF1-0112-42E9-918D-066F154A4596}">
      <dgm:prSet/>
      <dgm:spPr/>
      <dgm:t>
        <a:bodyPr/>
        <a:lstStyle/>
        <a:p>
          <a:endParaRPr lang="en-US"/>
        </a:p>
      </dgm:t>
    </dgm:pt>
    <dgm:pt modelId="{559AD53D-A031-48BF-A551-788F42B2FBEC}" type="sibTrans" cxnId="{77DBBAF1-0112-42E9-918D-066F154A4596}">
      <dgm:prSet/>
      <dgm:spPr/>
      <dgm:t>
        <a:bodyPr/>
        <a:lstStyle/>
        <a:p>
          <a:endParaRPr lang="en-US"/>
        </a:p>
      </dgm:t>
    </dgm:pt>
    <dgm:pt modelId="{01240061-1297-419D-AE9B-DAFE6D41F0CF}" type="pres">
      <dgm:prSet presAssocID="{9CEA3460-3870-4B52-9F59-9A817C7C508B}" presName="outerComposite" presStyleCnt="0">
        <dgm:presLayoutVars>
          <dgm:chMax val="5"/>
          <dgm:dir/>
          <dgm:resizeHandles val="exact"/>
        </dgm:presLayoutVars>
      </dgm:prSet>
      <dgm:spPr/>
    </dgm:pt>
    <dgm:pt modelId="{604523FE-B7EF-4DEE-91B3-7EDAC7227FA1}" type="pres">
      <dgm:prSet presAssocID="{9CEA3460-3870-4B52-9F59-9A817C7C508B}" presName="dummyMaxCanvas" presStyleCnt="0">
        <dgm:presLayoutVars/>
      </dgm:prSet>
      <dgm:spPr/>
    </dgm:pt>
    <dgm:pt modelId="{233A760B-C819-4F7E-A332-B3991F50F5B2}" type="pres">
      <dgm:prSet presAssocID="{9CEA3460-3870-4B52-9F59-9A817C7C508B}" presName="ThreeNodes_1" presStyleLbl="node1" presStyleIdx="0" presStyleCnt="3">
        <dgm:presLayoutVars>
          <dgm:bulletEnabled val="1"/>
        </dgm:presLayoutVars>
      </dgm:prSet>
      <dgm:spPr/>
    </dgm:pt>
    <dgm:pt modelId="{95EC54F6-906A-43F0-98E0-FEF8B914553C}" type="pres">
      <dgm:prSet presAssocID="{9CEA3460-3870-4B52-9F59-9A817C7C508B}" presName="ThreeNodes_2" presStyleLbl="node1" presStyleIdx="1" presStyleCnt="3">
        <dgm:presLayoutVars>
          <dgm:bulletEnabled val="1"/>
        </dgm:presLayoutVars>
      </dgm:prSet>
      <dgm:spPr/>
    </dgm:pt>
    <dgm:pt modelId="{099118D5-FE8B-45DA-B34D-8B8110B7B4C9}" type="pres">
      <dgm:prSet presAssocID="{9CEA3460-3870-4B52-9F59-9A817C7C508B}" presName="ThreeNodes_3" presStyleLbl="node1" presStyleIdx="2" presStyleCnt="3">
        <dgm:presLayoutVars>
          <dgm:bulletEnabled val="1"/>
        </dgm:presLayoutVars>
      </dgm:prSet>
      <dgm:spPr/>
    </dgm:pt>
    <dgm:pt modelId="{ADD80961-ED7B-420A-856E-FD89F9774F67}" type="pres">
      <dgm:prSet presAssocID="{9CEA3460-3870-4B52-9F59-9A817C7C508B}" presName="ThreeConn_1-2" presStyleLbl="fgAccFollowNode1" presStyleIdx="0" presStyleCnt="2">
        <dgm:presLayoutVars>
          <dgm:bulletEnabled val="1"/>
        </dgm:presLayoutVars>
      </dgm:prSet>
      <dgm:spPr/>
    </dgm:pt>
    <dgm:pt modelId="{7E301B36-D0C7-4697-8615-8E2515A70315}" type="pres">
      <dgm:prSet presAssocID="{9CEA3460-3870-4B52-9F59-9A817C7C508B}" presName="ThreeConn_2-3" presStyleLbl="fgAccFollowNode1" presStyleIdx="1" presStyleCnt="2">
        <dgm:presLayoutVars>
          <dgm:bulletEnabled val="1"/>
        </dgm:presLayoutVars>
      </dgm:prSet>
      <dgm:spPr/>
    </dgm:pt>
    <dgm:pt modelId="{CA9D105B-6B49-40B9-96CA-5959670AA512}" type="pres">
      <dgm:prSet presAssocID="{9CEA3460-3870-4B52-9F59-9A817C7C508B}" presName="ThreeNodes_1_text" presStyleLbl="node1" presStyleIdx="2" presStyleCnt="3">
        <dgm:presLayoutVars>
          <dgm:bulletEnabled val="1"/>
        </dgm:presLayoutVars>
      </dgm:prSet>
      <dgm:spPr/>
    </dgm:pt>
    <dgm:pt modelId="{3B3B62C0-D9D5-463A-82B9-6622A4E363A8}" type="pres">
      <dgm:prSet presAssocID="{9CEA3460-3870-4B52-9F59-9A817C7C508B}" presName="ThreeNodes_2_text" presStyleLbl="node1" presStyleIdx="2" presStyleCnt="3">
        <dgm:presLayoutVars>
          <dgm:bulletEnabled val="1"/>
        </dgm:presLayoutVars>
      </dgm:prSet>
      <dgm:spPr/>
    </dgm:pt>
    <dgm:pt modelId="{3B4505A1-A4A9-4A7D-A28A-4AEB5825FFBE}" type="pres">
      <dgm:prSet presAssocID="{9CEA3460-3870-4B52-9F59-9A817C7C508B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6914330B-E0DC-4FF6-B93F-B6AD55084A41}" srcId="{9CEA3460-3870-4B52-9F59-9A817C7C508B}" destId="{1451B3E5-BE50-40E2-88DD-365375DEA99C}" srcOrd="1" destOrd="0" parTransId="{35A95BE2-3EFE-47E7-A86D-F0495471D6E9}" sibTransId="{E95B91A3-47C6-48F5-95BD-6E162D74CF0E}"/>
    <dgm:cxn modelId="{D6B2AB14-1E4E-4EF6-A73C-2958E50E5D68}" type="presOf" srcId="{1451B3E5-BE50-40E2-88DD-365375DEA99C}" destId="{3B3B62C0-D9D5-463A-82B9-6622A4E363A8}" srcOrd="1" destOrd="0" presId="urn:microsoft.com/office/officeart/2005/8/layout/vProcess5"/>
    <dgm:cxn modelId="{CA96503C-F8A4-4992-91C5-D6D213FF80EC}" type="presOf" srcId="{43552712-E5B4-44C3-814B-CE5351295F1E}" destId="{CA9D105B-6B49-40B9-96CA-5959670AA512}" srcOrd="1" destOrd="0" presId="urn:microsoft.com/office/officeart/2005/8/layout/vProcess5"/>
    <dgm:cxn modelId="{5210053E-7B29-4347-8748-9BC0661F118F}" srcId="{9CEA3460-3870-4B52-9F59-9A817C7C508B}" destId="{43552712-E5B4-44C3-814B-CE5351295F1E}" srcOrd="0" destOrd="0" parTransId="{6057D6A2-2BE1-4FFE-BD99-92D2FA02F94B}" sibTransId="{1AA20541-8DEA-469F-A748-F2F656FF9573}"/>
    <dgm:cxn modelId="{33EFB247-389F-4A8C-AA49-1834E9CE7B03}" type="presOf" srcId="{9CEA3460-3870-4B52-9F59-9A817C7C508B}" destId="{01240061-1297-419D-AE9B-DAFE6D41F0CF}" srcOrd="0" destOrd="0" presId="urn:microsoft.com/office/officeart/2005/8/layout/vProcess5"/>
    <dgm:cxn modelId="{78A64E57-B548-4324-9894-8945B746FDE1}" type="presOf" srcId="{1AA20541-8DEA-469F-A748-F2F656FF9573}" destId="{ADD80961-ED7B-420A-856E-FD89F9774F67}" srcOrd="0" destOrd="0" presId="urn:microsoft.com/office/officeart/2005/8/layout/vProcess5"/>
    <dgm:cxn modelId="{9ED51F8B-00E1-4446-8F82-9E3234BABC82}" type="presOf" srcId="{E95B91A3-47C6-48F5-95BD-6E162D74CF0E}" destId="{7E301B36-D0C7-4697-8615-8E2515A70315}" srcOrd="0" destOrd="0" presId="urn:microsoft.com/office/officeart/2005/8/layout/vProcess5"/>
    <dgm:cxn modelId="{0AE2018F-A62E-4953-8500-D0CC9CE9976D}" type="presOf" srcId="{1EFD2E85-EF0C-41A2-AFE1-9F4B9A39EA3F}" destId="{3B4505A1-A4A9-4A7D-A28A-4AEB5825FFBE}" srcOrd="1" destOrd="0" presId="urn:microsoft.com/office/officeart/2005/8/layout/vProcess5"/>
    <dgm:cxn modelId="{3CADBAAA-2B73-43A2-A7FC-06F09E80B6C0}" type="presOf" srcId="{43552712-E5B4-44C3-814B-CE5351295F1E}" destId="{233A760B-C819-4F7E-A332-B3991F50F5B2}" srcOrd="0" destOrd="0" presId="urn:microsoft.com/office/officeart/2005/8/layout/vProcess5"/>
    <dgm:cxn modelId="{55367AB0-099B-485C-9DA7-4EA0A880CF01}" type="presOf" srcId="{1EFD2E85-EF0C-41A2-AFE1-9F4B9A39EA3F}" destId="{099118D5-FE8B-45DA-B34D-8B8110B7B4C9}" srcOrd="0" destOrd="0" presId="urn:microsoft.com/office/officeart/2005/8/layout/vProcess5"/>
    <dgm:cxn modelId="{77DBBAF1-0112-42E9-918D-066F154A4596}" srcId="{9CEA3460-3870-4B52-9F59-9A817C7C508B}" destId="{1EFD2E85-EF0C-41A2-AFE1-9F4B9A39EA3F}" srcOrd="2" destOrd="0" parTransId="{CBCB0599-DADC-47CE-88BC-7063135EDC8B}" sibTransId="{559AD53D-A031-48BF-A551-788F42B2FBEC}"/>
    <dgm:cxn modelId="{CD6881FA-A2BF-4045-9B79-E0461DB61548}" type="presOf" srcId="{1451B3E5-BE50-40E2-88DD-365375DEA99C}" destId="{95EC54F6-906A-43F0-98E0-FEF8B914553C}" srcOrd="0" destOrd="0" presId="urn:microsoft.com/office/officeart/2005/8/layout/vProcess5"/>
    <dgm:cxn modelId="{C9ADCC43-38F4-4F71-A6AE-DEA208D6156E}" type="presParOf" srcId="{01240061-1297-419D-AE9B-DAFE6D41F0CF}" destId="{604523FE-B7EF-4DEE-91B3-7EDAC7227FA1}" srcOrd="0" destOrd="0" presId="urn:microsoft.com/office/officeart/2005/8/layout/vProcess5"/>
    <dgm:cxn modelId="{DCE9B021-AD03-4C72-BD0C-41C803F7F5D7}" type="presParOf" srcId="{01240061-1297-419D-AE9B-DAFE6D41F0CF}" destId="{233A760B-C819-4F7E-A332-B3991F50F5B2}" srcOrd="1" destOrd="0" presId="urn:microsoft.com/office/officeart/2005/8/layout/vProcess5"/>
    <dgm:cxn modelId="{80BCD998-FF46-42C5-8152-F81B237754DC}" type="presParOf" srcId="{01240061-1297-419D-AE9B-DAFE6D41F0CF}" destId="{95EC54F6-906A-43F0-98E0-FEF8B914553C}" srcOrd="2" destOrd="0" presId="urn:microsoft.com/office/officeart/2005/8/layout/vProcess5"/>
    <dgm:cxn modelId="{6AD35421-5D13-47A0-8C7F-86FF45AD993B}" type="presParOf" srcId="{01240061-1297-419D-AE9B-DAFE6D41F0CF}" destId="{099118D5-FE8B-45DA-B34D-8B8110B7B4C9}" srcOrd="3" destOrd="0" presId="urn:microsoft.com/office/officeart/2005/8/layout/vProcess5"/>
    <dgm:cxn modelId="{167FE52E-186C-412C-ACD6-EEF4AD43438A}" type="presParOf" srcId="{01240061-1297-419D-AE9B-DAFE6D41F0CF}" destId="{ADD80961-ED7B-420A-856E-FD89F9774F67}" srcOrd="4" destOrd="0" presId="urn:microsoft.com/office/officeart/2005/8/layout/vProcess5"/>
    <dgm:cxn modelId="{E9614762-C5DC-46CA-A865-A9C5A1F139ED}" type="presParOf" srcId="{01240061-1297-419D-AE9B-DAFE6D41F0CF}" destId="{7E301B36-D0C7-4697-8615-8E2515A70315}" srcOrd="5" destOrd="0" presId="urn:microsoft.com/office/officeart/2005/8/layout/vProcess5"/>
    <dgm:cxn modelId="{C81C25D3-CCA7-44A7-A6DF-DA61C3F2A734}" type="presParOf" srcId="{01240061-1297-419D-AE9B-DAFE6D41F0CF}" destId="{CA9D105B-6B49-40B9-96CA-5959670AA512}" srcOrd="6" destOrd="0" presId="urn:microsoft.com/office/officeart/2005/8/layout/vProcess5"/>
    <dgm:cxn modelId="{BE10068B-11F4-46E7-8ADF-0033E0107602}" type="presParOf" srcId="{01240061-1297-419D-AE9B-DAFE6D41F0CF}" destId="{3B3B62C0-D9D5-463A-82B9-6622A4E363A8}" srcOrd="7" destOrd="0" presId="urn:microsoft.com/office/officeart/2005/8/layout/vProcess5"/>
    <dgm:cxn modelId="{7727ADC1-7CBE-47FB-BC7D-03B933214E69}" type="presParOf" srcId="{01240061-1297-419D-AE9B-DAFE6D41F0CF}" destId="{3B4505A1-A4A9-4A7D-A28A-4AEB5825FFBE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226CF7-437F-417C-9382-F27773343C03}">
      <dsp:nvSpPr>
        <dsp:cNvPr id="0" name=""/>
        <dsp:cNvSpPr/>
      </dsp:nvSpPr>
      <dsp:spPr>
        <a:xfrm>
          <a:off x="0" y="411912"/>
          <a:ext cx="2887252" cy="183340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ACBCFBC-C401-40DC-9667-312D0255070E}">
      <dsp:nvSpPr>
        <dsp:cNvPr id="0" name=""/>
        <dsp:cNvSpPr/>
      </dsp:nvSpPr>
      <dsp:spPr>
        <a:xfrm>
          <a:off x="320805" y="716678"/>
          <a:ext cx="2887252" cy="183340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Receipts</a:t>
          </a:r>
          <a:r>
            <a:rPr lang="en-US" sz="2200" kern="1200"/>
            <a:t> – Satış qəbzləri (10M sətr, 6 sütun)</a:t>
          </a:r>
        </a:p>
      </dsp:txBody>
      <dsp:txXfrm>
        <a:off x="374504" y="770377"/>
        <a:ext cx="2779854" cy="1726007"/>
      </dsp:txXfrm>
    </dsp:sp>
    <dsp:sp modelId="{D3D151D5-B36B-4A3C-B53B-D707BF15DB6F}">
      <dsp:nvSpPr>
        <dsp:cNvPr id="0" name=""/>
        <dsp:cNvSpPr/>
      </dsp:nvSpPr>
      <dsp:spPr>
        <a:xfrm>
          <a:off x="3528863" y="411912"/>
          <a:ext cx="2887252" cy="183340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DE4EDF8-0A13-4202-8B74-8AD930AF18EE}">
      <dsp:nvSpPr>
        <dsp:cNvPr id="0" name=""/>
        <dsp:cNvSpPr/>
      </dsp:nvSpPr>
      <dsp:spPr>
        <a:xfrm>
          <a:off x="3849669" y="716678"/>
          <a:ext cx="2887252" cy="183340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Map</a:t>
          </a:r>
          <a:r>
            <a:rPr lang="en-US" sz="2200" kern="1200"/>
            <a:t> – Məhsul məlumatları və mənfəət marjası (118K sətr, 4 sütun)</a:t>
          </a:r>
        </a:p>
      </dsp:txBody>
      <dsp:txXfrm>
        <a:off x="3903368" y="770377"/>
        <a:ext cx="2779854" cy="1726007"/>
      </dsp:txXfrm>
    </dsp:sp>
    <dsp:sp modelId="{F85E3D4A-07C2-414F-8747-157BC849806A}">
      <dsp:nvSpPr>
        <dsp:cNvPr id="0" name=""/>
        <dsp:cNvSpPr/>
      </dsp:nvSpPr>
      <dsp:spPr>
        <a:xfrm>
          <a:off x="7057727" y="411912"/>
          <a:ext cx="2887252" cy="183340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29257FD-88E0-40E9-8174-6F56A1C511E1}">
      <dsp:nvSpPr>
        <dsp:cNvPr id="0" name=""/>
        <dsp:cNvSpPr/>
      </dsp:nvSpPr>
      <dsp:spPr>
        <a:xfrm>
          <a:off x="7378533" y="716678"/>
          <a:ext cx="2887252" cy="183340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Full_tab</a:t>
          </a:r>
          <a:r>
            <a:rPr lang="en-US" sz="2200" kern="1200"/>
            <a:t> – Təmizlənmiş və birləşdirilmiş data (640K sətr, 11 sütun)</a:t>
          </a:r>
        </a:p>
      </dsp:txBody>
      <dsp:txXfrm>
        <a:off x="7432232" y="770377"/>
        <a:ext cx="2779854" cy="172600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3A760B-C819-4F7E-A332-B3991F50F5B2}">
      <dsp:nvSpPr>
        <dsp:cNvPr id="0" name=""/>
        <dsp:cNvSpPr/>
      </dsp:nvSpPr>
      <dsp:spPr>
        <a:xfrm>
          <a:off x="0" y="0"/>
          <a:ext cx="7639293" cy="109618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 baseline="0"/>
            <a:t>Həftənin günləri üzrə satış və mənfəət</a:t>
          </a:r>
          <a:endParaRPr lang="en-US" sz="2800" kern="1200"/>
        </a:p>
      </dsp:txBody>
      <dsp:txXfrm>
        <a:off x="32106" y="32106"/>
        <a:ext cx="6456427" cy="1031970"/>
      </dsp:txXfrm>
    </dsp:sp>
    <dsp:sp modelId="{95EC54F6-906A-43F0-98E0-FEF8B914553C}">
      <dsp:nvSpPr>
        <dsp:cNvPr id="0" name=""/>
        <dsp:cNvSpPr/>
      </dsp:nvSpPr>
      <dsp:spPr>
        <a:xfrm>
          <a:off x="674055" y="1278879"/>
          <a:ext cx="7639293" cy="109618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3221807"/>
                <a:satOff val="-9246"/>
                <a:lumOff val="-14805"/>
                <a:alphaOff val="0"/>
                <a:tint val="96000"/>
                <a:lumMod val="104000"/>
              </a:schemeClr>
            </a:gs>
            <a:gs pos="100000">
              <a:schemeClr val="accent2">
                <a:hueOff val="3221807"/>
                <a:satOff val="-9246"/>
                <a:lumOff val="-14805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 baseline="0"/>
            <a:t>POS (satış nöqtələri) üzrə təhlil</a:t>
          </a:r>
          <a:endParaRPr lang="en-US" sz="2800" kern="1200"/>
        </a:p>
      </dsp:txBody>
      <dsp:txXfrm>
        <a:off x="706161" y="1310985"/>
        <a:ext cx="6188507" cy="1031970"/>
      </dsp:txXfrm>
    </dsp:sp>
    <dsp:sp modelId="{099118D5-FE8B-45DA-B34D-8B8110B7B4C9}">
      <dsp:nvSpPr>
        <dsp:cNvPr id="0" name=""/>
        <dsp:cNvSpPr/>
      </dsp:nvSpPr>
      <dsp:spPr>
        <a:xfrm>
          <a:off x="1348110" y="2557758"/>
          <a:ext cx="7639293" cy="109618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tint val="96000"/>
                <a:lumMod val="104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 baseline="0"/>
            <a:t>Tarixlər üzrə satış və qəbz sayı</a:t>
          </a:r>
          <a:endParaRPr lang="en-US" sz="2800" kern="1200"/>
        </a:p>
      </dsp:txBody>
      <dsp:txXfrm>
        <a:off x="1380216" y="2589864"/>
        <a:ext cx="6188507" cy="1031970"/>
      </dsp:txXfrm>
    </dsp:sp>
    <dsp:sp modelId="{ADD80961-ED7B-420A-856E-FD89F9774F67}">
      <dsp:nvSpPr>
        <dsp:cNvPr id="0" name=""/>
        <dsp:cNvSpPr/>
      </dsp:nvSpPr>
      <dsp:spPr>
        <a:xfrm>
          <a:off x="6926774" y="831271"/>
          <a:ext cx="712518" cy="71251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200" kern="1200"/>
        </a:p>
      </dsp:txBody>
      <dsp:txXfrm>
        <a:off x="7087091" y="831271"/>
        <a:ext cx="391884" cy="536170"/>
      </dsp:txXfrm>
    </dsp:sp>
    <dsp:sp modelId="{7E301B36-D0C7-4697-8615-8E2515A70315}">
      <dsp:nvSpPr>
        <dsp:cNvPr id="0" name=""/>
        <dsp:cNvSpPr/>
      </dsp:nvSpPr>
      <dsp:spPr>
        <a:xfrm>
          <a:off x="7600830" y="2102843"/>
          <a:ext cx="712518" cy="71251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9525" cap="rnd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200" kern="1200"/>
        </a:p>
      </dsp:txBody>
      <dsp:txXfrm>
        <a:off x="7761147" y="2102843"/>
        <a:ext cx="391884" cy="53617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DBF49-DE95-4FCA-83A5-A4945AE5824F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24E7A19-92EA-4551-8CAA-ED9C372697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0178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DBF49-DE95-4FCA-83A5-A4945AE5824F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E7A19-92EA-4551-8CAA-ED9C372697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169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DBF49-DE95-4FCA-83A5-A4945AE5824F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24E7A19-92EA-4551-8CAA-ED9C372697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4921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DBF49-DE95-4FCA-83A5-A4945AE5824F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24E7A19-92EA-4551-8CAA-ED9C372697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7322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DBF49-DE95-4FCA-83A5-A4945AE5824F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24E7A19-92EA-4551-8CAA-ED9C372697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1593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DBF49-DE95-4FCA-83A5-A4945AE5824F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E7A19-92EA-4551-8CAA-ED9C372697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682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DBF49-DE95-4FCA-83A5-A4945AE5824F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E7A19-92EA-4551-8CAA-ED9C372697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5573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DBF49-DE95-4FCA-83A5-A4945AE5824F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E7A19-92EA-4551-8CAA-ED9C372697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977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DBF49-DE95-4FCA-83A5-A4945AE5824F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24E7A19-92EA-4551-8CAA-ED9C372697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5487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DBF49-DE95-4FCA-83A5-A4945AE5824F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24E7A19-92EA-4551-8CAA-ED9C372697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7924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DBF49-DE95-4FCA-83A5-A4945AE5824F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24E7A19-92EA-4551-8CAA-ED9C37269781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548188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DBF49-DE95-4FCA-83A5-A4945AE5824F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24E7A19-92EA-4551-8CAA-ED9C372697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374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DBF49-DE95-4FCA-83A5-A4945AE5824F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24E7A19-92EA-4551-8CAA-ED9C37269781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102934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DBF49-DE95-4FCA-83A5-A4945AE5824F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24E7A19-92EA-4551-8CAA-ED9C372697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6482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DBF49-DE95-4FCA-83A5-A4945AE5824F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E7A19-92EA-4551-8CAA-ED9C372697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5100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DBF49-DE95-4FCA-83A5-A4945AE5824F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E7A19-92EA-4551-8CAA-ED9C372697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1748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7DBF49-DE95-4FCA-83A5-A4945AE5824F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24E7A19-92EA-4551-8CAA-ED9C372697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414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81819F9-8CAC-4A6C-8F06-0482027F9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B74BD3-CF0E-D237-9212-A738C5574C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73062" y="1864865"/>
            <a:ext cx="8131550" cy="2262781"/>
          </a:xfrm>
        </p:spPr>
        <p:txBody>
          <a:bodyPr>
            <a:normAutofit/>
          </a:bodyPr>
          <a:lstStyle/>
          <a:p>
            <a:r>
              <a:rPr lang="en-US" dirty="0"/>
              <a:t>Retail Sales Analysis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516B68-61FA-8095-6035-E167C96A2BA7}"/>
              </a:ext>
            </a:extLst>
          </p:cNvPr>
          <p:cNvSpPr txBox="1"/>
          <p:nvPr/>
        </p:nvSpPr>
        <p:spPr>
          <a:xfrm>
            <a:off x="3373062" y="4127644"/>
            <a:ext cx="8131550" cy="1126283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s-ES" dirty="0" err="1"/>
              <a:t>Hazirlayan</a:t>
            </a:r>
            <a:r>
              <a:rPr lang="es-ES" dirty="0"/>
              <a:t>: </a:t>
            </a:r>
            <a:r>
              <a:rPr lang="es-ES" i="1" dirty="0"/>
              <a:t>Seyidshah Muradov</a:t>
            </a:r>
            <a:endParaRPr lang="es-ES" i="1"/>
          </a:p>
          <a:p>
            <a:pPr>
              <a:spcAft>
                <a:spcPts val="600"/>
              </a:spcAft>
            </a:pPr>
            <a:r>
              <a:rPr lang="es-ES" dirty="0" err="1"/>
              <a:t>Tarix</a:t>
            </a:r>
            <a:r>
              <a:rPr lang="es-ES" dirty="0"/>
              <a:t>: 01/10/2025</a:t>
            </a:r>
            <a:endParaRPr lang="es-E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A98CC08-AEC2-4E8F-8F52-0F5C6372DB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285151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D1545E6-EB3C-4478-A661-A2CA963F12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  <a:solidFill>
            <a:schemeClr val="tx2">
              <a:lumMod val="60000"/>
              <a:lumOff val="40000"/>
              <a:alpha val="40000"/>
            </a:schemeClr>
          </a:solidFill>
        </p:grpSpPr>
        <p:sp>
          <p:nvSpPr>
            <p:cNvPr id="15" name="Freeform 11">
              <a:extLst>
                <a:ext uri="{FF2B5EF4-FFF2-40B4-BE49-F238E27FC236}">
                  <a16:creationId xmlns:a16="http://schemas.microsoft.com/office/drawing/2014/main" id="{B2E5B960-0C5D-4F77-8E9F-9F3D883D83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2">
              <a:extLst>
                <a:ext uri="{FF2B5EF4-FFF2-40B4-BE49-F238E27FC236}">
                  <a16:creationId xmlns:a16="http://schemas.microsoft.com/office/drawing/2014/main" id="{258E44FC-92AD-43A0-BB05-DB268C82D8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3">
              <a:extLst>
                <a:ext uri="{FF2B5EF4-FFF2-40B4-BE49-F238E27FC236}">
                  <a16:creationId xmlns:a16="http://schemas.microsoft.com/office/drawing/2014/main" id="{C63D3083-A56C-4199-8DE0-63C8BE9EDF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4">
              <a:extLst>
                <a:ext uri="{FF2B5EF4-FFF2-40B4-BE49-F238E27FC236}">
                  <a16:creationId xmlns:a16="http://schemas.microsoft.com/office/drawing/2014/main" id="{C7CD3581-635D-438F-A64F-68404E7AE0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5">
              <a:extLst>
                <a:ext uri="{FF2B5EF4-FFF2-40B4-BE49-F238E27FC236}">
                  <a16:creationId xmlns:a16="http://schemas.microsoft.com/office/drawing/2014/main" id="{AD6904C0-211C-41A2-BDB8-3B07C90BBB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6">
              <a:extLst>
                <a:ext uri="{FF2B5EF4-FFF2-40B4-BE49-F238E27FC236}">
                  <a16:creationId xmlns:a16="http://schemas.microsoft.com/office/drawing/2014/main" id="{B0837DA6-CAF9-4E78-A39E-6358EDE2B1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7">
              <a:extLst>
                <a:ext uri="{FF2B5EF4-FFF2-40B4-BE49-F238E27FC236}">
                  <a16:creationId xmlns:a16="http://schemas.microsoft.com/office/drawing/2014/main" id="{0A99DD7D-3AB3-471E-842F-8AFEA09D07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8">
              <a:extLst>
                <a:ext uri="{FF2B5EF4-FFF2-40B4-BE49-F238E27FC236}">
                  <a16:creationId xmlns:a16="http://schemas.microsoft.com/office/drawing/2014/main" id="{9C70B0D4-92FE-478F-86BD-93BA2C4DFC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9">
              <a:extLst>
                <a:ext uri="{FF2B5EF4-FFF2-40B4-BE49-F238E27FC236}">
                  <a16:creationId xmlns:a16="http://schemas.microsoft.com/office/drawing/2014/main" id="{C9156BE6-11D4-4696-9E3F-C325BFAC81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20">
              <a:extLst>
                <a:ext uri="{FF2B5EF4-FFF2-40B4-BE49-F238E27FC236}">
                  <a16:creationId xmlns:a16="http://schemas.microsoft.com/office/drawing/2014/main" id="{4E667226-1D20-4A9D-BBE3-AC17EA436F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21">
              <a:extLst>
                <a:ext uri="{FF2B5EF4-FFF2-40B4-BE49-F238E27FC236}">
                  <a16:creationId xmlns:a16="http://schemas.microsoft.com/office/drawing/2014/main" id="{2F87E3B6-5202-4434-9B26-42B46774F3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2">
              <a:extLst>
                <a:ext uri="{FF2B5EF4-FFF2-40B4-BE49-F238E27FC236}">
                  <a16:creationId xmlns:a16="http://schemas.microsoft.com/office/drawing/2014/main" id="{AEA5E85F-F1F4-40E4-A62C-95324F6749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40A75861-F6C5-44A9-B161-B03701CBDE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786"/>
            <a:ext cx="2356675" cy="6854040"/>
            <a:chOff x="6627813" y="194833"/>
            <a:chExt cx="1952625" cy="5678918"/>
          </a:xfrm>
          <a:solidFill>
            <a:schemeClr val="tx2">
              <a:lumMod val="75000"/>
              <a:alpha val="70000"/>
            </a:schemeClr>
          </a:solidFill>
        </p:grpSpPr>
        <p:sp>
          <p:nvSpPr>
            <p:cNvPr id="29" name="Freeform 27">
              <a:extLst>
                <a:ext uri="{FF2B5EF4-FFF2-40B4-BE49-F238E27FC236}">
                  <a16:creationId xmlns:a16="http://schemas.microsoft.com/office/drawing/2014/main" id="{72EE642D-4F69-47C0-99BA-CE43503573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8">
              <a:extLst>
                <a:ext uri="{FF2B5EF4-FFF2-40B4-BE49-F238E27FC236}">
                  <a16:creationId xmlns:a16="http://schemas.microsoft.com/office/drawing/2014/main" id="{26178CE4-DA2D-46EA-AB8D-341C5AC563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9">
              <a:extLst>
                <a:ext uri="{FF2B5EF4-FFF2-40B4-BE49-F238E27FC236}">
                  <a16:creationId xmlns:a16="http://schemas.microsoft.com/office/drawing/2014/main" id="{698E9F53-8381-4FA5-A510-846925D242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30">
              <a:extLst>
                <a:ext uri="{FF2B5EF4-FFF2-40B4-BE49-F238E27FC236}">
                  <a16:creationId xmlns:a16="http://schemas.microsoft.com/office/drawing/2014/main" id="{B13CE284-F21E-411B-BB8E-9C03B853CE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31">
              <a:extLst>
                <a:ext uri="{FF2B5EF4-FFF2-40B4-BE49-F238E27FC236}">
                  <a16:creationId xmlns:a16="http://schemas.microsoft.com/office/drawing/2014/main" id="{23DF4578-4703-437C-A797-2A2D0CEE5F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32">
              <a:extLst>
                <a:ext uri="{FF2B5EF4-FFF2-40B4-BE49-F238E27FC236}">
                  <a16:creationId xmlns:a16="http://schemas.microsoft.com/office/drawing/2014/main" id="{F878F330-AF64-4F8F-88FD-A4A408D6D3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33">
              <a:extLst>
                <a:ext uri="{FF2B5EF4-FFF2-40B4-BE49-F238E27FC236}">
                  <a16:creationId xmlns:a16="http://schemas.microsoft.com/office/drawing/2014/main" id="{AC9B00BF-4FB7-42FA-BBBD-7DB54ED3F0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34">
              <a:extLst>
                <a:ext uri="{FF2B5EF4-FFF2-40B4-BE49-F238E27FC236}">
                  <a16:creationId xmlns:a16="http://schemas.microsoft.com/office/drawing/2014/main" id="{BD3D64CA-2AAD-4609-8DAA-3EAD4609A6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5">
              <a:extLst>
                <a:ext uri="{FF2B5EF4-FFF2-40B4-BE49-F238E27FC236}">
                  <a16:creationId xmlns:a16="http://schemas.microsoft.com/office/drawing/2014/main" id="{C669E05A-8550-4E91-B29E-E1912228EC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36">
              <a:extLst>
                <a:ext uri="{FF2B5EF4-FFF2-40B4-BE49-F238E27FC236}">
                  <a16:creationId xmlns:a16="http://schemas.microsoft.com/office/drawing/2014/main" id="{F8C1FD53-1E8F-46CA-BC2D-FCEC4DAE07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37">
              <a:extLst>
                <a:ext uri="{FF2B5EF4-FFF2-40B4-BE49-F238E27FC236}">
                  <a16:creationId xmlns:a16="http://schemas.microsoft.com/office/drawing/2014/main" id="{CC97A31F-CFDE-4EA3-98F1-13FDD16702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Freeform 38">
              <a:extLst>
                <a:ext uri="{FF2B5EF4-FFF2-40B4-BE49-F238E27FC236}">
                  <a16:creationId xmlns:a16="http://schemas.microsoft.com/office/drawing/2014/main" id="{9E1540E7-E6C3-4907-B70A-B175683655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2" name="Freeform 11">
            <a:extLst>
              <a:ext uri="{FF2B5EF4-FFF2-40B4-BE49-F238E27FC236}">
                <a16:creationId xmlns:a16="http://schemas.microsoft.com/office/drawing/2014/main" id="{1310EFE2-B91D-47E7-B117-C2A802800A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59" y="3411452"/>
            <a:ext cx="1098194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269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F7E8610-2DF7-4AF0-B876-0F3B7882A6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1C8C023-62A6-4DA0-8DF4-3F4EA94090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06695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FE5F34-5AF1-F15F-218E-2B9CBDAC3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3391" y="624110"/>
            <a:ext cx="9383408" cy="1280890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İstifadə olunan datasetlər:</a:t>
            </a:r>
          </a:p>
        </p:txBody>
      </p:sp>
      <p:sp>
        <p:nvSpPr>
          <p:cNvPr id="13" name="Freeform 11">
            <a:extLst>
              <a:ext uri="{FF2B5EF4-FFF2-40B4-BE49-F238E27FC236}">
                <a16:creationId xmlns:a16="http://schemas.microsoft.com/office/drawing/2014/main" id="{26B9FE07-322E-43FB-8707-C9826BD903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2F09EC2-1938-E9F5-7541-3001CFB16A8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66364016"/>
              </p:ext>
            </p:extLst>
          </p:nvPr>
        </p:nvGraphicFramePr>
        <p:xfrm>
          <a:off x="961012" y="2930805"/>
          <a:ext cx="10265786" cy="29619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782045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A3C2D7E-3F2E-404E-9B30-CB12DC972D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1F7FD00-BF97-4325-B7C2-E451F20840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06695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D61773-17B7-5439-F8AB-357AF8356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3391" y="624110"/>
            <a:ext cx="9383408" cy="1280890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Receipts Datası</a:t>
            </a:r>
          </a:p>
        </p:txBody>
      </p:sp>
      <p:sp>
        <p:nvSpPr>
          <p:cNvPr id="13" name="Freeform 11">
            <a:extLst>
              <a:ext uri="{FF2B5EF4-FFF2-40B4-BE49-F238E27FC236}">
                <a16:creationId xmlns:a16="http://schemas.microsoft.com/office/drawing/2014/main" id="{179B5294-DA4E-4926-B14A-DD6E07A12F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CF5E36A-ADE5-EA54-4CC5-1D840A9D067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843392" y="2623930"/>
            <a:ext cx="9383408" cy="328729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Əsas </a:t>
            </a:r>
            <a:r>
              <a:rPr kumimoji="0" lang="en-US" altLang="en-US" b="1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göstəricilər</a:t>
            </a: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</a:t>
            </a:r>
            <a:endParaRPr kumimoji="0" lang="en-US" altLang="en-US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10,000,909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sətr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, 6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sütun</a:t>
            </a:r>
            <a:endParaRPr kumimoji="0" lang="en-US" altLang="en-US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6,569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unikal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satış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nöqtəsi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(POS)</a:t>
            </a:r>
          </a:p>
          <a:p>
            <a:pPr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675,881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unikal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məhsul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adı</a:t>
            </a:r>
            <a:endParaRPr kumimoji="0" lang="en-US" altLang="en-US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10M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unikal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qəbz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rec_id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)</a:t>
            </a:r>
          </a:p>
          <a:p>
            <a:pPr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</a:pPr>
            <a:r>
              <a:rPr kumimoji="0" lang="en-US" altLang="en-US" b="1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Şərh</a:t>
            </a: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Çox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iri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həcmli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data,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mağaza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və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məhsul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üzrə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çox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geniş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spektrdə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satış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əməliyyatlarını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əhatə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edir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. Analiz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öncəsi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cleaning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və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mapping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zəruridir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551554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03280A-97D1-09E9-021F-BF0443237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19FE08D8-CEA0-461E-870A-02CD15D9B9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059079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A2FE7F-5C4A-6936-262B-CA7D5D629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893" y="3101093"/>
            <a:ext cx="2454052" cy="3029344"/>
          </a:xfrm>
        </p:spPr>
        <p:txBody>
          <a:bodyPr>
            <a:normAutofit/>
          </a:bodyPr>
          <a:lstStyle/>
          <a:p>
            <a:r>
              <a:rPr lang="en-US" sz="3200">
                <a:solidFill>
                  <a:schemeClr val="bg1"/>
                </a:solidFill>
              </a:rPr>
              <a:t>Map Datası</a:t>
            </a:r>
          </a:p>
        </p:txBody>
      </p:sp>
      <p:sp>
        <p:nvSpPr>
          <p:cNvPr id="15" name="Freeform 11">
            <a:extLst>
              <a:ext uri="{FF2B5EF4-FFF2-40B4-BE49-F238E27FC236}">
                <a16:creationId xmlns:a16="http://schemas.microsoft.com/office/drawing/2014/main" id="{2B982904-A46E-41DF-BA98-61E2300C7D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59" y="3179901"/>
            <a:ext cx="1098194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27018161-547E-48F7-A0D9-272C9EA5B3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95736" y="0"/>
            <a:ext cx="739626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428E5D23-CCC8-1BFB-E57D-D61C8926A2F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706578" y="589722"/>
            <a:ext cx="6798033" cy="53215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Əsas </a:t>
            </a:r>
            <a:r>
              <a:rPr kumimoji="0" lang="en-US" altLang="en-US" b="1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göstəricilər</a:t>
            </a: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</a:t>
            </a:r>
            <a:endParaRPr kumimoji="0" lang="en-US" altLang="en-US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118,118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sətr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, 4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sütun</a:t>
            </a:r>
            <a:endParaRPr kumimoji="0" lang="en-US" altLang="en-US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46,528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unikal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məhsul</a:t>
            </a:r>
            <a:endParaRPr kumimoji="0" lang="en-US" altLang="en-US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2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kateqoriya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 FOOD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və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NON-FOOD</a:t>
            </a:r>
          </a:p>
          <a:p>
            <a:pPr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</a:pPr>
            <a:r>
              <a:rPr kumimoji="0" lang="en-US" altLang="en-US" b="1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Şərh</a:t>
            </a: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Məhsulların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mənfəət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marjasını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göstərir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. Receipts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datası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ilə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birləşdirildikdə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maliyyə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təhlili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üçün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əsas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baza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formalaşdırır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121822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9FE08D8-CEA0-461E-870A-02CD15D9B9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059079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F2427F-AE8E-4685-BEF6-332D12A71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893" y="3101093"/>
            <a:ext cx="2454052" cy="3029344"/>
          </a:xfrm>
        </p:spPr>
        <p:txBody>
          <a:bodyPr>
            <a:normAutofit/>
          </a:bodyPr>
          <a:lstStyle/>
          <a:p>
            <a:r>
              <a:rPr lang="en-US" sz="3200" b="1">
                <a:solidFill>
                  <a:schemeClr val="bg1"/>
                </a:solidFill>
              </a:rPr>
              <a:t>Full_tab Datası</a:t>
            </a:r>
            <a:endParaRPr lang="en-US" sz="3200">
              <a:solidFill>
                <a:schemeClr val="bg1"/>
              </a:solidFill>
            </a:endParaRPr>
          </a:p>
        </p:txBody>
      </p:sp>
      <p:sp>
        <p:nvSpPr>
          <p:cNvPr id="10" name="Freeform 11">
            <a:extLst>
              <a:ext uri="{FF2B5EF4-FFF2-40B4-BE49-F238E27FC236}">
                <a16:creationId xmlns:a16="http://schemas.microsoft.com/office/drawing/2014/main" id="{2B982904-A46E-41DF-BA98-61E2300C7D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59" y="3179901"/>
            <a:ext cx="1098194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7018161-547E-48F7-A0D9-272C9EA5B3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95736" y="0"/>
            <a:ext cx="739626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D4B8C9-C211-06D3-A73D-EA1C69EE74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06578" y="589722"/>
            <a:ext cx="6798033" cy="5321500"/>
          </a:xfrm>
        </p:spPr>
        <p:txBody>
          <a:bodyPr anchor="ctr">
            <a:normAutofit/>
          </a:bodyPr>
          <a:lstStyle/>
          <a:p>
            <a:r>
              <a:rPr lang="en-US" b="1"/>
              <a:t>Əsas </a:t>
            </a:r>
            <a:r>
              <a:rPr lang="en-US" b="1" err="1"/>
              <a:t>göstəricilər</a:t>
            </a:r>
            <a:r>
              <a:rPr lang="en-US" b="1"/>
              <a:t>:</a:t>
            </a:r>
            <a:endParaRPr lang="en-US"/>
          </a:p>
          <a:p>
            <a:pPr lvl="1"/>
            <a:r>
              <a:rPr lang="en-US"/>
              <a:t>640,815 </a:t>
            </a:r>
            <a:r>
              <a:rPr lang="en-US" err="1"/>
              <a:t>sətr</a:t>
            </a:r>
            <a:r>
              <a:rPr lang="en-US"/>
              <a:t>, 11 </a:t>
            </a:r>
            <a:r>
              <a:rPr lang="en-US" err="1"/>
              <a:t>sütun</a:t>
            </a:r>
            <a:endParaRPr lang="en-US"/>
          </a:p>
          <a:p>
            <a:pPr lvl="1"/>
            <a:r>
              <a:rPr lang="en-US"/>
              <a:t>4,309 </a:t>
            </a:r>
            <a:r>
              <a:rPr lang="en-US" err="1"/>
              <a:t>unikal</a:t>
            </a:r>
            <a:r>
              <a:rPr lang="en-US"/>
              <a:t> </a:t>
            </a:r>
            <a:r>
              <a:rPr lang="en-US" err="1"/>
              <a:t>məhsul</a:t>
            </a:r>
            <a:endParaRPr lang="en-US"/>
          </a:p>
          <a:p>
            <a:pPr lvl="1"/>
            <a:r>
              <a:rPr lang="en-US"/>
              <a:t>969 </a:t>
            </a:r>
            <a:r>
              <a:rPr lang="en-US" err="1"/>
              <a:t>unikal</a:t>
            </a:r>
            <a:r>
              <a:rPr lang="en-US"/>
              <a:t> </a:t>
            </a:r>
            <a:r>
              <a:rPr lang="en-US" err="1"/>
              <a:t>satış</a:t>
            </a:r>
            <a:r>
              <a:rPr lang="en-US"/>
              <a:t> </a:t>
            </a:r>
            <a:r>
              <a:rPr lang="en-US" err="1"/>
              <a:t>nöqtəsi</a:t>
            </a:r>
            <a:endParaRPr lang="en-US"/>
          </a:p>
          <a:p>
            <a:r>
              <a:rPr lang="en-US" b="1" err="1"/>
              <a:t>Əlavə</a:t>
            </a:r>
            <a:r>
              <a:rPr lang="en-US" b="1"/>
              <a:t> </a:t>
            </a:r>
            <a:r>
              <a:rPr lang="en-US" b="1" err="1"/>
              <a:t>sütunlar</a:t>
            </a:r>
            <a:r>
              <a:rPr lang="en-US" b="1"/>
              <a:t>:</a:t>
            </a:r>
            <a:endParaRPr lang="en-US"/>
          </a:p>
          <a:p>
            <a:pPr lvl="1"/>
            <a:r>
              <a:rPr lang="en-US" err="1"/>
              <a:t>total_sales</a:t>
            </a:r>
            <a:r>
              <a:rPr lang="en-US"/>
              <a:t> = </a:t>
            </a:r>
            <a:r>
              <a:rPr lang="en-US" err="1"/>
              <a:t>qnt</a:t>
            </a:r>
            <a:r>
              <a:rPr lang="en-US"/>
              <a:t> × </a:t>
            </a:r>
            <a:r>
              <a:rPr lang="en-US" err="1"/>
              <a:t>unit_price</a:t>
            </a:r>
            <a:endParaRPr lang="en-US"/>
          </a:p>
          <a:p>
            <a:pPr lvl="1"/>
            <a:r>
              <a:rPr lang="en-US"/>
              <a:t>profit = </a:t>
            </a:r>
            <a:r>
              <a:rPr lang="en-US" err="1"/>
              <a:t>total_sales</a:t>
            </a:r>
            <a:r>
              <a:rPr lang="en-US"/>
              <a:t> × </a:t>
            </a:r>
            <a:r>
              <a:rPr lang="en-US" err="1"/>
              <a:t>profit_margin</a:t>
            </a:r>
            <a:endParaRPr lang="en-US"/>
          </a:p>
          <a:p>
            <a:r>
              <a:rPr lang="en-US" b="1" err="1"/>
              <a:t>Şərh</a:t>
            </a:r>
            <a:r>
              <a:rPr lang="en-US" b="1"/>
              <a:t>:</a:t>
            </a:r>
            <a:r>
              <a:rPr lang="en-US"/>
              <a:t> Əsas </a:t>
            </a:r>
            <a:r>
              <a:rPr lang="en-US" err="1"/>
              <a:t>işçi</a:t>
            </a:r>
            <a:r>
              <a:rPr lang="en-US"/>
              <a:t> </a:t>
            </a:r>
            <a:r>
              <a:rPr lang="en-US" err="1"/>
              <a:t>datasetdir</a:t>
            </a:r>
            <a:r>
              <a:rPr lang="en-US"/>
              <a:t>. </a:t>
            </a:r>
            <a:r>
              <a:rPr lang="en-US" err="1"/>
              <a:t>Satış</a:t>
            </a:r>
            <a:r>
              <a:rPr lang="en-US"/>
              <a:t> </a:t>
            </a:r>
            <a:r>
              <a:rPr lang="en-US" err="1"/>
              <a:t>və</a:t>
            </a:r>
            <a:r>
              <a:rPr lang="en-US"/>
              <a:t> </a:t>
            </a:r>
            <a:r>
              <a:rPr lang="en-US" err="1"/>
              <a:t>mənfəət</a:t>
            </a:r>
            <a:r>
              <a:rPr lang="en-US"/>
              <a:t> </a:t>
            </a:r>
            <a:r>
              <a:rPr lang="en-US" err="1"/>
              <a:t>analizləri</a:t>
            </a:r>
            <a:r>
              <a:rPr lang="en-US"/>
              <a:t> </a:t>
            </a:r>
            <a:r>
              <a:rPr lang="en-US" err="1"/>
              <a:t>üçün</a:t>
            </a:r>
            <a:r>
              <a:rPr lang="en-US"/>
              <a:t> </a:t>
            </a:r>
            <a:r>
              <a:rPr lang="en-US" err="1"/>
              <a:t>optimallaşdırılmışdır</a:t>
            </a:r>
            <a:r>
              <a:rPr lang="en-US"/>
              <a:t>.</a:t>
            </a: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9609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0" name="Group 169">
            <a:extLst>
              <a:ext uri="{FF2B5EF4-FFF2-40B4-BE49-F238E27FC236}">
                <a16:creationId xmlns:a16="http://schemas.microsoft.com/office/drawing/2014/main" id="{EB9B5B69-A297-4D2F-8B89-529DA8A273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</p:grpSpPr>
        <p:sp>
          <p:nvSpPr>
            <p:cNvPr id="171" name="Freeform 11">
              <a:extLst>
                <a:ext uri="{FF2B5EF4-FFF2-40B4-BE49-F238E27FC236}">
                  <a16:creationId xmlns:a16="http://schemas.microsoft.com/office/drawing/2014/main" id="{3E39D215-BF38-4094-82D7-61DED11452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2" name="Freeform 12">
              <a:extLst>
                <a:ext uri="{FF2B5EF4-FFF2-40B4-BE49-F238E27FC236}">
                  <a16:creationId xmlns:a16="http://schemas.microsoft.com/office/drawing/2014/main" id="{7412700A-91C4-4126-8F17-3B9449DBB3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3" name="Freeform 13">
              <a:extLst>
                <a:ext uri="{FF2B5EF4-FFF2-40B4-BE49-F238E27FC236}">
                  <a16:creationId xmlns:a16="http://schemas.microsoft.com/office/drawing/2014/main" id="{DF985802-25A8-4B99-89F0-2A42EC325F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4" name="Freeform 14">
              <a:extLst>
                <a:ext uri="{FF2B5EF4-FFF2-40B4-BE49-F238E27FC236}">
                  <a16:creationId xmlns:a16="http://schemas.microsoft.com/office/drawing/2014/main" id="{F54C35AF-DB92-4205-A779-2A385B7143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5" name="Freeform 15">
              <a:extLst>
                <a:ext uri="{FF2B5EF4-FFF2-40B4-BE49-F238E27FC236}">
                  <a16:creationId xmlns:a16="http://schemas.microsoft.com/office/drawing/2014/main" id="{9F845211-1F53-4E0A-891E-B78A206F07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6" name="Freeform 16">
              <a:extLst>
                <a:ext uri="{FF2B5EF4-FFF2-40B4-BE49-F238E27FC236}">
                  <a16:creationId xmlns:a16="http://schemas.microsoft.com/office/drawing/2014/main" id="{9149C7DD-9998-4805-BFC8-CEF5F5DF31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7" name="Freeform 17">
              <a:extLst>
                <a:ext uri="{FF2B5EF4-FFF2-40B4-BE49-F238E27FC236}">
                  <a16:creationId xmlns:a16="http://schemas.microsoft.com/office/drawing/2014/main" id="{47C8036D-3ECA-43DA-BAF5-3C65CF4112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8" name="Freeform 18">
              <a:extLst>
                <a:ext uri="{FF2B5EF4-FFF2-40B4-BE49-F238E27FC236}">
                  <a16:creationId xmlns:a16="http://schemas.microsoft.com/office/drawing/2014/main" id="{29C15912-CDE8-4DF3-9324-273FB4C86D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9" name="Freeform 19">
              <a:extLst>
                <a:ext uri="{FF2B5EF4-FFF2-40B4-BE49-F238E27FC236}">
                  <a16:creationId xmlns:a16="http://schemas.microsoft.com/office/drawing/2014/main" id="{37C68D51-B7DA-4572-AB7E-708540B3C6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0" name="Freeform 20">
              <a:extLst>
                <a:ext uri="{FF2B5EF4-FFF2-40B4-BE49-F238E27FC236}">
                  <a16:creationId xmlns:a16="http://schemas.microsoft.com/office/drawing/2014/main" id="{1AF802CB-4E9E-4895-9363-C119914909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1" name="Freeform 21">
              <a:extLst>
                <a:ext uri="{FF2B5EF4-FFF2-40B4-BE49-F238E27FC236}">
                  <a16:creationId xmlns:a16="http://schemas.microsoft.com/office/drawing/2014/main" id="{615760E5-5F27-4735-B01C-78E05F3FB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2" name="Freeform 22">
              <a:extLst>
                <a:ext uri="{FF2B5EF4-FFF2-40B4-BE49-F238E27FC236}">
                  <a16:creationId xmlns:a16="http://schemas.microsoft.com/office/drawing/2014/main" id="{DB9C6516-B2DB-432F-BD3A-A1792BD46F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BC9C8D0D-644B-4B97-B83C-CC8E64361D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786"/>
            <a:ext cx="2356675" cy="6854040"/>
            <a:chOff x="6627813" y="194833"/>
            <a:chExt cx="1952625" cy="5678918"/>
          </a:xfrm>
        </p:grpSpPr>
        <p:sp>
          <p:nvSpPr>
            <p:cNvPr id="185" name="Freeform 27">
              <a:extLst>
                <a:ext uri="{FF2B5EF4-FFF2-40B4-BE49-F238E27FC236}">
                  <a16:creationId xmlns:a16="http://schemas.microsoft.com/office/drawing/2014/main" id="{F8BE1EA6-80CF-446B-A4FE-3F935A51C0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6" name="Freeform 28">
              <a:extLst>
                <a:ext uri="{FF2B5EF4-FFF2-40B4-BE49-F238E27FC236}">
                  <a16:creationId xmlns:a16="http://schemas.microsoft.com/office/drawing/2014/main" id="{10E39808-F4F7-43DE-AB53-82B7B55EA4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7" name="Freeform 29">
              <a:extLst>
                <a:ext uri="{FF2B5EF4-FFF2-40B4-BE49-F238E27FC236}">
                  <a16:creationId xmlns:a16="http://schemas.microsoft.com/office/drawing/2014/main" id="{6ED5109A-600A-4C23-9BB3-C4C19C2D9F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8" name="Freeform 30">
              <a:extLst>
                <a:ext uri="{FF2B5EF4-FFF2-40B4-BE49-F238E27FC236}">
                  <a16:creationId xmlns:a16="http://schemas.microsoft.com/office/drawing/2014/main" id="{D76FF73F-8CA3-42B0-A680-353805CD2A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9" name="Freeform 31">
              <a:extLst>
                <a:ext uri="{FF2B5EF4-FFF2-40B4-BE49-F238E27FC236}">
                  <a16:creationId xmlns:a16="http://schemas.microsoft.com/office/drawing/2014/main" id="{B26A6949-3BEB-422A-854C-D4E26E4CF1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0" name="Freeform 32">
              <a:extLst>
                <a:ext uri="{FF2B5EF4-FFF2-40B4-BE49-F238E27FC236}">
                  <a16:creationId xmlns:a16="http://schemas.microsoft.com/office/drawing/2014/main" id="{FE07AD25-30AF-40CD-B901-DF1EDBD682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1" name="Freeform 33">
              <a:extLst>
                <a:ext uri="{FF2B5EF4-FFF2-40B4-BE49-F238E27FC236}">
                  <a16:creationId xmlns:a16="http://schemas.microsoft.com/office/drawing/2014/main" id="{5AA460AF-7760-4F15-881A-6F0BFDBCDF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2" name="Freeform 34">
              <a:extLst>
                <a:ext uri="{FF2B5EF4-FFF2-40B4-BE49-F238E27FC236}">
                  <a16:creationId xmlns:a16="http://schemas.microsoft.com/office/drawing/2014/main" id="{EE53C70E-5D92-4C42-A34F-9F7D16006B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3" name="Freeform 35">
              <a:extLst>
                <a:ext uri="{FF2B5EF4-FFF2-40B4-BE49-F238E27FC236}">
                  <a16:creationId xmlns:a16="http://schemas.microsoft.com/office/drawing/2014/main" id="{C27614EE-0086-4D34-99BD-52F03708DC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" name="Freeform 36">
              <a:extLst>
                <a:ext uri="{FF2B5EF4-FFF2-40B4-BE49-F238E27FC236}">
                  <a16:creationId xmlns:a16="http://schemas.microsoft.com/office/drawing/2014/main" id="{326919B9-3ED4-4744-A713-326B3BAF62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" name="Freeform 37">
              <a:extLst>
                <a:ext uri="{FF2B5EF4-FFF2-40B4-BE49-F238E27FC236}">
                  <a16:creationId xmlns:a16="http://schemas.microsoft.com/office/drawing/2014/main" id="{898BDBF5-8AA3-49CD-999A-ABA1F7AE34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6" name="Freeform 38">
              <a:extLst>
                <a:ext uri="{FF2B5EF4-FFF2-40B4-BE49-F238E27FC236}">
                  <a16:creationId xmlns:a16="http://schemas.microsoft.com/office/drawing/2014/main" id="{AF8ED3E0-CBE7-48C4-8F9E-FF98079CDB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8" name="Rectangle 197">
            <a:extLst>
              <a:ext uri="{FF2B5EF4-FFF2-40B4-BE49-F238E27FC236}">
                <a16:creationId xmlns:a16="http://schemas.microsoft.com/office/drawing/2014/main" id="{A84F153B-2093-4171-BD2D-1631695C9B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0" name="Freeform 6">
            <a:extLst>
              <a:ext uri="{FF2B5EF4-FFF2-40B4-BE49-F238E27FC236}">
                <a16:creationId xmlns:a16="http://schemas.microsoft.com/office/drawing/2014/main" id="{DB5BC99D-7BEA-4F13-B82B-A956E2D097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 useBgFill="1">
        <p:nvSpPr>
          <p:cNvPr id="202" name="Rectangle 201">
            <a:extLst>
              <a:ext uri="{FF2B5EF4-FFF2-40B4-BE49-F238E27FC236}">
                <a16:creationId xmlns:a16="http://schemas.microsoft.com/office/drawing/2014/main" id="{04FFCB0A-A21A-4D0F-AE1C-6EC8ED79A8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4" name="Group 203">
            <a:extLst>
              <a:ext uri="{FF2B5EF4-FFF2-40B4-BE49-F238E27FC236}">
                <a16:creationId xmlns:a16="http://schemas.microsoft.com/office/drawing/2014/main" id="{481DDC0B-F2D9-4A55-A60C-E0532B46C9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</p:grpSpPr>
        <p:sp>
          <p:nvSpPr>
            <p:cNvPr id="205" name="Freeform 11">
              <a:extLst>
                <a:ext uri="{FF2B5EF4-FFF2-40B4-BE49-F238E27FC236}">
                  <a16:creationId xmlns:a16="http://schemas.microsoft.com/office/drawing/2014/main" id="{60C4C88B-2AA4-43CA-9F8F-3FB2B5D7DC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6" name="Freeform 12">
              <a:extLst>
                <a:ext uri="{FF2B5EF4-FFF2-40B4-BE49-F238E27FC236}">
                  <a16:creationId xmlns:a16="http://schemas.microsoft.com/office/drawing/2014/main" id="{1E062DFF-2E6B-420E-AEFE-FB8082B29B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7" name="Freeform 13">
              <a:extLst>
                <a:ext uri="{FF2B5EF4-FFF2-40B4-BE49-F238E27FC236}">
                  <a16:creationId xmlns:a16="http://schemas.microsoft.com/office/drawing/2014/main" id="{37DD0A2B-B295-4280-B8DA-0DC58312CA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8" name="Freeform 14">
              <a:extLst>
                <a:ext uri="{FF2B5EF4-FFF2-40B4-BE49-F238E27FC236}">
                  <a16:creationId xmlns:a16="http://schemas.microsoft.com/office/drawing/2014/main" id="{83B6198C-5321-4CBD-A21D-B413234BF8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9" name="Freeform 15">
              <a:extLst>
                <a:ext uri="{FF2B5EF4-FFF2-40B4-BE49-F238E27FC236}">
                  <a16:creationId xmlns:a16="http://schemas.microsoft.com/office/drawing/2014/main" id="{CA21CB5E-7E99-4448-8DD0-FA87EAC3C0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0" name="Freeform 16">
              <a:extLst>
                <a:ext uri="{FF2B5EF4-FFF2-40B4-BE49-F238E27FC236}">
                  <a16:creationId xmlns:a16="http://schemas.microsoft.com/office/drawing/2014/main" id="{5675BC7F-097E-4C82-8B98-05F11E34FF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1" name="Freeform 17">
              <a:extLst>
                <a:ext uri="{FF2B5EF4-FFF2-40B4-BE49-F238E27FC236}">
                  <a16:creationId xmlns:a16="http://schemas.microsoft.com/office/drawing/2014/main" id="{CF36D428-039F-4D57-83E9-C9E49A8EEF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2" name="Freeform 18">
              <a:extLst>
                <a:ext uri="{FF2B5EF4-FFF2-40B4-BE49-F238E27FC236}">
                  <a16:creationId xmlns:a16="http://schemas.microsoft.com/office/drawing/2014/main" id="{9C846992-7277-412B-8F89-BF12BBBBED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3" name="Freeform 19">
              <a:extLst>
                <a:ext uri="{FF2B5EF4-FFF2-40B4-BE49-F238E27FC236}">
                  <a16:creationId xmlns:a16="http://schemas.microsoft.com/office/drawing/2014/main" id="{2FFB1517-7128-4059-90D1-7FE4A5155D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4" name="Freeform 20">
              <a:extLst>
                <a:ext uri="{FF2B5EF4-FFF2-40B4-BE49-F238E27FC236}">
                  <a16:creationId xmlns:a16="http://schemas.microsoft.com/office/drawing/2014/main" id="{C0835D29-A969-4B36-823D-2041358537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" name="Freeform 21">
              <a:extLst>
                <a:ext uri="{FF2B5EF4-FFF2-40B4-BE49-F238E27FC236}">
                  <a16:creationId xmlns:a16="http://schemas.microsoft.com/office/drawing/2014/main" id="{E513FF63-116C-4620-AA46-03788BE5F1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6" name="Freeform 22">
              <a:extLst>
                <a:ext uri="{FF2B5EF4-FFF2-40B4-BE49-F238E27FC236}">
                  <a16:creationId xmlns:a16="http://schemas.microsoft.com/office/drawing/2014/main" id="{EF361EF8-880C-41F9-8051-9F05A8C201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0B04AC0-450E-0D00-4D14-1F8B3EFC7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213" y="4529540"/>
            <a:ext cx="8915399" cy="1162423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600" b="1"/>
              <a:t>Total Sales üzrə Statistik Xülasə</a:t>
            </a:r>
            <a:endParaRPr lang="en-US" sz="4600"/>
          </a:p>
        </p:txBody>
      </p:sp>
      <p:grpSp>
        <p:nvGrpSpPr>
          <p:cNvPr id="218" name="Group 217">
            <a:extLst>
              <a:ext uri="{FF2B5EF4-FFF2-40B4-BE49-F238E27FC236}">
                <a16:creationId xmlns:a16="http://schemas.microsoft.com/office/drawing/2014/main" id="{FBF9A995-2C32-4FB7-B5F3-E417B7DE06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786"/>
            <a:ext cx="2356675" cy="6854040"/>
            <a:chOff x="6627813" y="194833"/>
            <a:chExt cx="1952625" cy="5678918"/>
          </a:xfrm>
        </p:grpSpPr>
        <p:sp>
          <p:nvSpPr>
            <p:cNvPr id="219" name="Freeform 27">
              <a:extLst>
                <a:ext uri="{FF2B5EF4-FFF2-40B4-BE49-F238E27FC236}">
                  <a16:creationId xmlns:a16="http://schemas.microsoft.com/office/drawing/2014/main" id="{0F4ECCFB-A0C2-4B4D-B6E2-77341F6FE1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0" name="Freeform 28">
              <a:extLst>
                <a:ext uri="{FF2B5EF4-FFF2-40B4-BE49-F238E27FC236}">
                  <a16:creationId xmlns:a16="http://schemas.microsoft.com/office/drawing/2014/main" id="{5476CBB8-CCD6-4739-8729-8927DC09D2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1" name="Freeform 29">
              <a:extLst>
                <a:ext uri="{FF2B5EF4-FFF2-40B4-BE49-F238E27FC236}">
                  <a16:creationId xmlns:a16="http://schemas.microsoft.com/office/drawing/2014/main" id="{695B716E-8BF4-4DD9-96A5-4238FDC07E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2" name="Freeform 30">
              <a:extLst>
                <a:ext uri="{FF2B5EF4-FFF2-40B4-BE49-F238E27FC236}">
                  <a16:creationId xmlns:a16="http://schemas.microsoft.com/office/drawing/2014/main" id="{6A3F7DBC-E3BC-4902-BE4C-6F3542E33D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3" name="Freeform 31">
              <a:extLst>
                <a:ext uri="{FF2B5EF4-FFF2-40B4-BE49-F238E27FC236}">
                  <a16:creationId xmlns:a16="http://schemas.microsoft.com/office/drawing/2014/main" id="{70379707-5601-41BA-8F25-82825A8E3C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4" name="Freeform 32">
              <a:extLst>
                <a:ext uri="{FF2B5EF4-FFF2-40B4-BE49-F238E27FC236}">
                  <a16:creationId xmlns:a16="http://schemas.microsoft.com/office/drawing/2014/main" id="{1C7E7640-A719-4104-8E66-10B2FB8487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" name="Freeform 33">
              <a:extLst>
                <a:ext uri="{FF2B5EF4-FFF2-40B4-BE49-F238E27FC236}">
                  <a16:creationId xmlns:a16="http://schemas.microsoft.com/office/drawing/2014/main" id="{9A4C4222-3F93-463D-9B22-69ECBF8E05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6" name="Freeform 34">
              <a:extLst>
                <a:ext uri="{FF2B5EF4-FFF2-40B4-BE49-F238E27FC236}">
                  <a16:creationId xmlns:a16="http://schemas.microsoft.com/office/drawing/2014/main" id="{B263D752-00B8-466F-A4DD-D4F58CAE12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7" name="Freeform 35">
              <a:extLst>
                <a:ext uri="{FF2B5EF4-FFF2-40B4-BE49-F238E27FC236}">
                  <a16:creationId xmlns:a16="http://schemas.microsoft.com/office/drawing/2014/main" id="{45470F50-BCB7-4793-B6EE-C07E577946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8" name="Freeform 36">
              <a:extLst>
                <a:ext uri="{FF2B5EF4-FFF2-40B4-BE49-F238E27FC236}">
                  <a16:creationId xmlns:a16="http://schemas.microsoft.com/office/drawing/2014/main" id="{3FE3B154-4827-4A59-B611-C15FE09303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9" name="Freeform 37">
              <a:extLst>
                <a:ext uri="{FF2B5EF4-FFF2-40B4-BE49-F238E27FC236}">
                  <a16:creationId xmlns:a16="http://schemas.microsoft.com/office/drawing/2014/main" id="{4856C74D-7893-4686-8C69-93ADFAD947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0" name="Freeform 38">
              <a:extLst>
                <a:ext uri="{FF2B5EF4-FFF2-40B4-BE49-F238E27FC236}">
                  <a16:creationId xmlns:a16="http://schemas.microsoft.com/office/drawing/2014/main" id="{D9855B44-5A4E-48D3-B20E-74C69EF511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2" name="Rectangle 231">
            <a:extLst>
              <a:ext uri="{FF2B5EF4-FFF2-40B4-BE49-F238E27FC236}">
                <a16:creationId xmlns:a16="http://schemas.microsoft.com/office/drawing/2014/main" id="{4DF306C4-90F2-4BFE-B2AD-FAFB31C465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DDFD4F7-2722-8D82-0435-D910145BA8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9212" y="885128"/>
            <a:ext cx="4399491" cy="311263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4667E7E-CF35-5274-C560-CEE60E8FE7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2428" y="1440564"/>
            <a:ext cx="4399491" cy="2001768"/>
          </a:xfrm>
          <a:prstGeom prst="rect">
            <a:avLst/>
          </a:prstGeom>
        </p:spPr>
      </p:pic>
      <p:sp>
        <p:nvSpPr>
          <p:cNvPr id="234" name="Freeform 33">
            <a:extLst>
              <a:ext uri="{FF2B5EF4-FFF2-40B4-BE49-F238E27FC236}">
                <a16:creationId xmlns:a16="http://schemas.microsoft.com/office/drawing/2014/main" id="{AA07F762-5743-4CB0-9102-37CFC56F26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4753578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3316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EB9B5B69-A297-4D2F-8B89-529DA8A273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</p:grpSpPr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3E39D215-BF38-4094-82D7-61DED11452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7412700A-91C4-4126-8F17-3B9449DBB3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3">
              <a:extLst>
                <a:ext uri="{FF2B5EF4-FFF2-40B4-BE49-F238E27FC236}">
                  <a16:creationId xmlns:a16="http://schemas.microsoft.com/office/drawing/2014/main" id="{DF985802-25A8-4B99-89F0-2A42EC325F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4">
              <a:extLst>
                <a:ext uri="{FF2B5EF4-FFF2-40B4-BE49-F238E27FC236}">
                  <a16:creationId xmlns:a16="http://schemas.microsoft.com/office/drawing/2014/main" id="{F54C35AF-DB92-4205-A779-2A385B7143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9F845211-1F53-4E0A-891E-B78A206F07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6">
              <a:extLst>
                <a:ext uri="{FF2B5EF4-FFF2-40B4-BE49-F238E27FC236}">
                  <a16:creationId xmlns:a16="http://schemas.microsoft.com/office/drawing/2014/main" id="{9149C7DD-9998-4805-BFC8-CEF5F5DF31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7">
              <a:extLst>
                <a:ext uri="{FF2B5EF4-FFF2-40B4-BE49-F238E27FC236}">
                  <a16:creationId xmlns:a16="http://schemas.microsoft.com/office/drawing/2014/main" id="{47C8036D-3ECA-43DA-BAF5-3C65CF4112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8">
              <a:extLst>
                <a:ext uri="{FF2B5EF4-FFF2-40B4-BE49-F238E27FC236}">
                  <a16:creationId xmlns:a16="http://schemas.microsoft.com/office/drawing/2014/main" id="{29C15912-CDE8-4DF3-9324-273FB4C86D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9">
              <a:extLst>
                <a:ext uri="{FF2B5EF4-FFF2-40B4-BE49-F238E27FC236}">
                  <a16:creationId xmlns:a16="http://schemas.microsoft.com/office/drawing/2014/main" id="{37C68D51-B7DA-4572-AB7E-708540B3C6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20">
              <a:extLst>
                <a:ext uri="{FF2B5EF4-FFF2-40B4-BE49-F238E27FC236}">
                  <a16:creationId xmlns:a16="http://schemas.microsoft.com/office/drawing/2014/main" id="{1AF802CB-4E9E-4895-9363-C119914909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21">
              <a:extLst>
                <a:ext uri="{FF2B5EF4-FFF2-40B4-BE49-F238E27FC236}">
                  <a16:creationId xmlns:a16="http://schemas.microsoft.com/office/drawing/2014/main" id="{615760E5-5F27-4735-B01C-78E05F3FB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22">
              <a:extLst>
                <a:ext uri="{FF2B5EF4-FFF2-40B4-BE49-F238E27FC236}">
                  <a16:creationId xmlns:a16="http://schemas.microsoft.com/office/drawing/2014/main" id="{DB9C6516-B2DB-432F-BD3A-A1792BD46F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BC9C8D0D-644B-4B97-B83C-CC8E64361D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786"/>
            <a:ext cx="2356675" cy="6854040"/>
            <a:chOff x="6627813" y="194833"/>
            <a:chExt cx="1952625" cy="5678918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F8BE1EA6-80CF-446B-A4FE-3F935A51C0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8">
              <a:extLst>
                <a:ext uri="{FF2B5EF4-FFF2-40B4-BE49-F238E27FC236}">
                  <a16:creationId xmlns:a16="http://schemas.microsoft.com/office/drawing/2014/main" id="{10E39808-F4F7-43DE-AB53-82B7B55EA4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6ED5109A-600A-4C23-9BB3-C4C19C2D9F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D76FF73F-8CA3-42B0-A680-353805CD2A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31">
              <a:extLst>
                <a:ext uri="{FF2B5EF4-FFF2-40B4-BE49-F238E27FC236}">
                  <a16:creationId xmlns:a16="http://schemas.microsoft.com/office/drawing/2014/main" id="{B26A6949-3BEB-422A-854C-D4E26E4CF1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FE07AD25-30AF-40CD-B901-DF1EDBD682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33">
              <a:extLst>
                <a:ext uri="{FF2B5EF4-FFF2-40B4-BE49-F238E27FC236}">
                  <a16:creationId xmlns:a16="http://schemas.microsoft.com/office/drawing/2014/main" id="{5AA460AF-7760-4F15-881A-6F0BFDBCDF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34">
              <a:extLst>
                <a:ext uri="{FF2B5EF4-FFF2-40B4-BE49-F238E27FC236}">
                  <a16:creationId xmlns:a16="http://schemas.microsoft.com/office/drawing/2014/main" id="{EE53C70E-5D92-4C42-A34F-9F7D16006B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35">
              <a:extLst>
                <a:ext uri="{FF2B5EF4-FFF2-40B4-BE49-F238E27FC236}">
                  <a16:creationId xmlns:a16="http://schemas.microsoft.com/office/drawing/2014/main" id="{C27614EE-0086-4D34-99BD-52F03708DC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326919B9-3ED4-4744-A713-326B3BAF62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7">
              <a:extLst>
                <a:ext uri="{FF2B5EF4-FFF2-40B4-BE49-F238E27FC236}">
                  <a16:creationId xmlns:a16="http://schemas.microsoft.com/office/drawing/2014/main" id="{898BDBF5-8AA3-49CD-999A-ABA1F7AE34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38">
              <a:extLst>
                <a:ext uri="{FF2B5EF4-FFF2-40B4-BE49-F238E27FC236}">
                  <a16:creationId xmlns:a16="http://schemas.microsoft.com/office/drawing/2014/main" id="{AF8ED3E0-CBE7-48C4-8F9E-FF98079CDB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0" name="Rectangle 39">
            <a:extLst>
              <a:ext uri="{FF2B5EF4-FFF2-40B4-BE49-F238E27FC236}">
                <a16:creationId xmlns:a16="http://schemas.microsoft.com/office/drawing/2014/main" id="{A84F153B-2093-4171-BD2D-1631695C9B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2" name="Freeform 6">
            <a:extLst>
              <a:ext uri="{FF2B5EF4-FFF2-40B4-BE49-F238E27FC236}">
                <a16:creationId xmlns:a16="http://schemas.microsoft.com/office/drawing/2014/main" id="{DB5BC99D-7BEA-4F13-B82B-A956E2D097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 useBgFill="1">
        <p:nvSpPr>
          <p:cNvPr id="75" name="Rectangle 74">
            <a:extLst>
              <a:ext uri="{FF2B5EF4-FFF2-40B4-BE49-F238E27FC236}">
                <a16:creationId xmlns:a16="http://schemas.microsoft.com/office/drawing/2014/main" id="{04FFCB0A-A21A-4D0F-AE1C-6EC8ED79A8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481DDC0B-F2D9-4A55-A60C-E0532B46C9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</p:grpSpPr>
        <p:sp>
          <p:nvSpPr>
            <p:cNvPr id="78" name="Freeform 11">
              <a:extLst>
                <a:ext uri="{FF2B5EF4-FFF2-40B4-BE49-F238E27FC236}">
                  <a16:creationId xmlns:a16="http://schemas.microsoft.com/office/drawing/2014/main" id="{60C4C88B-2AA4-43CA-9F8F-3FB2B5D7DC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9" name="Freeform 12">
              <a:extLst>
                <a:ext uri="{FF2B5EF4-FFF2-40B4-BE49-F238E27FC236}">
                  <a16:creationId xmlns:a16="http://schemas.microsoft.com/office/drawing/2014/main" id="{1E062DFF-2E6B-420E-AEFE-FB8082B29B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0" name="Freeform 13">
              <a:extLst>
                <a:ext uri="{FF2B5EF4-FFF2-40B4-BE49-F238E27FC236}">
                  <a16:creationId xmlns:a16="http://schemas.microsoft.com/office/drawing/2014/main" id="{37DD0A2B-B295-4280-B8DA-0DC58312CA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Freeform 14">
              <a:extLst>
                <a:ext uri="{FF2B5EF4-FFF2-40B4-BE49-F238E27FC236}">
                  <a16:creationId xmlns:a16="http://schemas.microsoft.com/office/drawing/2014/main" id="{83B6198C-5321-4CBD-A21D-B413234BF8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Freeform 15">
              <a:extLst>
                <a:ext uri="{FF2B5EF4-FFF2-40B4-BE49-F238E27FC236}">
                  <a16:creationId xmlns:a16="http://schemas.microsoft.com/office/drawing/2014/main" id="{CA21CB5E-7E99-4448-8DD0-FA87EAC3C0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3" name="Freeform 16">
              <a:extLst>
                <a:ext uri="{FF2B5EF4-FFF2-40B4-BE49-F238E27FC236}">
                  <a16:creationId xmlns:a16="http://schemas.microsoft.com/office/drawing/2014/main" id="{5675BC7F-097E-4C82-8B98-05F11E34FF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Freeform 17">
              <a:extLst>
                <a:ext uri="{FF2B5EF4-FFF2-40B4-BE49-F238E27FC236}">
                  <a16:creationId xmlns:a16="http://schemas.microsoft.com/office/drawing/2014/main" id="{CF36D428-039F-4D57-83E9-C9E49A8EEF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5" name="Freeform 18">
              <a:extLst>
                <a:ext uri="{FF2B5EF4-FFF2-40B4-BE49-F238E27FC236}">
                  <a16:creationId xmlns:a16="http://schemas.microsoft.com/office/drawing/2014/main" id="{9C846992-7277-412B-8F89-BF12BBBBED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6" name="Freeform 19">
              <a:extLst>
                <a:ext uri="{FF2B5EF4-FFF2-40B4-BE49-F238E27FC236}">
                  <a16:creationId xmlns:a16="http://schemas.microsoft.com/office/drawing/2014/main" id="{2FFB1517-7128-4059-90D1-7FE4A5155D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Freeform 20">
              <a:extLst>
                <a:ext uri="{FF2B5EF4-FFF2-40B4-BE49-F238E27FC236}">
                  <a16:creationId xmlns:a16="http://schemas.microsoft.com/office/drawing/2014/main" id="{C0835D29-A969-4B36-823D-2041358537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8" name="Freeform 21">
              <a:extLst>
                <a:ext uri="{FF2B5EF4-FFF2-40B4-BE49-F238E27FC236}">
                  <a16:creationId xmlns:a16="http://schemas.microsoft.com/office/drawing/2014/main" id="{E513FF63-116C-4620-AA46-03788BE5F1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9" name="Freeform 22">
              <a:extLst>
                <a:ext uri="{FF2B5EF4-FFF2-40B4-BE49-F238E27FC236}">
                  <a16:creationId xmlns:a16="http://schemas.microsoft.com/office/drawing/2014/main" id="{EF361EF8-880C-41F9-8051-9F05A8C201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B4EFBDA-8DE7-354E-C1CB-E892CDCA7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213" y="4529540"/>
            <a:ext cx="8915399" cy="116242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b="1"/>
              <a:t>Profit üzrə Statistik Xülasə</a:t>
            </a:r>
            <a:endParaRPr lang="en-US" sz="5400"/>
          </a:p>
        </p:txBody>
      </p:sp>
      <p:grpSp>
        <p:nvGrpSpPr>
          <p:cNvPr id="90" name="Group 89">
            <a:extLst>
              <a:ext uri="{FF2B5EF4-FFF2-40B4-BE49-F238E27FC236}">
                <a16:creationId xmlns:a16="http://schemas.microsoft.com/office/drawing/2014/main" id="{FBF9A995-2C32-4FB7-B5F3-E417B7DE06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786"/>
            <a:ext cx="2356675" cy="6854040"/>
            <a:chOff x="6627813" y="194833"/>
            <a:chExt cx="1952625" cy="5678918"/>
          </a:xfrm>
        </p:grpSpPr>
        <p:sp>
          <p:nvSpPr>
            <p:cNvPr id="91" name="Freeform 27">
              <a:extLst>
                <a:ext uri="{FF2B5EF4-FFF2-40B4-BE49-F238E27FC236}">
                  <a16:creationId xmlns:a16="http://schemas.microsoft.com/office/drawing/2014/main" id="{0F4ECCFB-A0C2-4B4D-B6E2-77341F6FE1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" name="Freeform 28">
              <a:extLst>
                <a:ext uri="{FF2B5EF4-FFF2-40B4-BE49-F238E27FC236}">
                  <a16:creationId xmlns:a16="http://schemas.microsoft.com/office/drawing/2014/main" id="{5476CBB8-CCD6-4739-8729-8927DC09D2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3" name="Freeform 29">
              <a:extLst>
                <a:ext uri="{FF2B5EF4-FFF2-40B4-BE49-F238E27FC236}">
                  <a16:creationId xmlns:a16="http://schemas.microsoft.com/office/drawing/2014/main" id="{695B716E-8BF4-4DD9-96A5-4238FDC07E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4" name="Freeform 30">
              <a:extLst>
                <a:ext uri="{FF2B5EF4-FFF2-40B4-BE49-F238E27FC236}">
                  <a16:creationId xmlns:a16="http://schemas.microsoft.com/office/drawing/2014/main" id="{6A3F7DBC-E3BC-4902-BE4C-6F3542E33D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5" name="Freeform 31">
              <a:extLst>
                <a:ext uri="{FF2B5EF4-FFF2-40B4-BE49-F238E27FC236}">
                  <a16:creationId xmlns:a16="http://schemas.microsoft.com/office/drawing/2014/main" id="{70379707-5601-41BA-8F25-82825A8E3C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6" name="Freeform 32">
              <a:extLst>
                <a:ext uri="{FF2B5EF4-FFF2-40B4-BE49-F238E27FC236}">
                  <a16:creationId xmlns:a16="http://schemas.microsoft.com/office/drawing/2014/main" id="{1C7E7640-A719-4104-8E66-10B2FB8487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7" name="Freeform 33">
              <a:extLst>
                <a:ext uri="{FF2B5EF4-FFF2-40B4-BE49-F238E27FC236}">
                  <a16:creationId xmlns:a16="http://schemas.microsoft.com/office/drawing/2014/main" id="{9A4C4222-3F93-463D-9B22-69ECBF8E05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8" name="Freeform 34">
              <a:extLst>
                <a:ext uri="{FF2B5EF4-FFF2-40B4-BE49-F238E27FC236}">
                  <a16:creationId xmlns:a16="http://schemas.microsoft.com/office/drawing/2014/main" id="{B263D752-00B8-466F-A4DD-D4F58CAE12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9" name="Freeform 35">
              <a:extLst>
                <a:ext uri="{FF2B5EF4-FFF2-40B4-BE49-F238E27FC236}">
                  <a16:creationId xmlns:a16="http://schemas.microsoft.com/office/drawing/2014/main" id="{45470F50-BCB7-4793-B6EE-C07E577946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0" name="Freeform 36">
              <a:extLst>
                <a:ext uri="{FF2B5EF4-FFF2-40B4-BE49-F238E27FC236}">
                  <a16:creationId xmlns:a16="http://schemas.microsoft.com/office/drawing/2014/main" id="{3FE3B154-4827-4A59-B611-C15FE09303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Freeform 37">
              <a:extLst>
                <a:ext uri="{FF2B5EF4-FFF2-40B4-BE49-F238E27FC236}">
                  <a16:creationId xmlns:a16="http://schemas.microsoft.com/office/drawing/2014/main" id="{4856C74D-7893-4686-8C69-93ADFAD947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" name="Freeform 38">
              <a:extLst>
                <a:ext uri="{FF2B5EF4-FFF2-40B4-BE49-F238E27FC236}">
                  <a16:creationId xmlns:a16="http://schemas.microsoft.com/office/drawing/2014/main" id="{D9855B44-5A4E-48D3-B20E-74C69EF511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4" name="Rectangle 73">
            <a:extLst>
              <a:ext uri="{FF2B5EF4-FFF2-40B4-BE49-F238E27FC236}">
                <a16:creationId xmlns:a16="http://schemas.microsoft.com/office/drawing/2014/main" id="{4DF306C4-90F2-4BFE-B2AD-FAFB31C465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FD483FA-FF4C-DFB2-E7D9-23FD1881AE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3428" y="912625"/>
            <a:ext cx="4851813" cy="337201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F1317FC-B5D2-A776-F695-2A16D33150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5241" y="1538865"/>
            <a:ext cx="5100718" cy="2078542"/>
          </a:xfrm>
          <a:prstGeom prst="rect">
            <a:avLst/>
          </a:prstGeom>
        </p:spPr>
      </p:pic>
      <p:sp>
        <p:nvSpPr>
          <p:cNvPr id="76" name="Freeform 33">
            <a:extLst>
              <a:ext uri="{FF2B5EF4-FFF2-40B4-BE49-F238E27FC236}">
                <a16:creationId xmlns:a16="http://schemas.microsoft.com/office/drawing/2014/main" id="{AA07F762-5743-4CB0-9102-37CFC56F26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4753578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256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0745C-0B7F-BBBF-EEB3-B6BB0256B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Profit Margin üzrə Əlavə Təhlil</a:t>
            </a:r>
            <a:endParaRPr lang="en-US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04F31F-AB73-DA0B-CBE2-6FEC0287BC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107" y="1831706"/>
            <a:ext cx="10136015" cy="18481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AC271FD-FCAC-0B2D-7E18-721575ADFE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756" y="3930014"/>
            <a:ext cx="10126488" cy="1914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81417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146E2-94A3-A20C-019A-15BBD1B7C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1572" y="217241"/>
            <a:ext cx="8911687" cy="1280890"/>
          </a:xfrm>
        </p:spPr>
        <p:txBody>
          <a:bodyPr/>
          <a:lstStyle/>
          <a:p>
            <a:r>
              <a:rPr lang="en-US" b="1" dirty="0" err="1"/>
              <a:t>Ən</a:t>
            </a:r>
            <a:r>
              <a:rPr lang="en-US" b="1" dirty="0"/>
              <a:t> </a:t>
            </a:r>
            <a:r>
              <a:rPr lang="en-US" b="1" dirty="0" err="1"/>
              <a:t>Yüksək</a:t>
            </a:r>
            <a:r>
              <a:rPr lang="en-US" b="1" dirty="0"/>
              <a:t> </a:t>
            </a:r>
            <a:r>
              <a:rPr lang="en-US" b="1" dirty="0" err="1"/>
              <a:t>Gəlir</a:t>
            </a:r>
            <a:r>
              <a:rPr lang="en-US" b="1" dirty="0"/>
              <a:t> </a:t>
            </a:r>
            <a:r>
              <a:rPr lang="en-US" b="1" dirty="0" err="1"/>
              <a:t>və</a:t>
            </a:r>
            <a:r>
              <a:rPr lang="en-US" b="1" dirty="0"/>
              <a:t> </a:t>
            </a:r>
            <a:r>
              <a:rPr lang="en-US" b="1" dirty="0" err="1"/>
              <a:t>Mənfəət</a:t>
            </a:r>
            <a:r>
              <a:rPr lang="en-US" b="1" dirty="0"/>
              <a:t> </a:t>
            </a:r>
            <a:r>
              <a:rPr lang="en-US" b="1" dirty="0" err="1"/>
              <a:t>Qəbzləri</a:t>
            </a:r>
            <a:br>
              <a:rPr lang="en-US" b="1" dirty="0"/>
            </a:b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4EBA44-3904-03AD-981D-4262B44AE0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7210" y="1002134"/>
            <a:ext cx="10059804" cy="19368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73DEED1-2EA2-90DD-9C1F-989724E656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7210" y="2950636"/>
            <a:ext cx="10050278" cy="19368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8313CA8-8806-C041-8821-0F2E6F8B9B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7210" y="4878388"/>
            <a:ext cx="10059804" cy="1762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77443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966DD2F-FBF5-41CE-A3F4-565352D95D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AED179-78AE-60EF-63C8-F2BCF065F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4897" y="624110"/>
            <a:ext cx="9712998" cy="1280890"/>
          </a:xfrm>
        </p:spPr>
        <p:txBody>
          <a:bodyPr>
            <a:normAutofit/>
          </a:bodyPr>
          <a:lstStyle/>
          <a:p>
            <a:r>
              <a:rPr lang="en-US" dirty="0" err="1"/>
              <a:t>Anomaliyalar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46FCE2B-F2D2-466E-B0AA-8E341DB498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Freeform 11">
            <a:extLst>
              <a:ext uri="{FF2B5EF4-FFF2-40B4-BE49-F238E27FC236}">
                <a16:creationId xmlns:a16="http://schemas.microsoft.com/office/drawing/2014/main" id="{2BD31C98-199A-4722-A1A5-4393A43E7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BDB01E90-CA67-F781-C5CF-467E4FF3386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37334356"/>
              </p:ext>
            </p:extLst>
          </p:nvPr>
        </p:nvGraphicFramePr>
        <p:xfrm>
          <a:off x="1794897" y="2222983"/>
          <a:ext cx="8987404" cy="36539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79540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3" name="Rectangle 52">
            <a:extLst>
              <a:ext uri="{FF2B5EF4-FFF2-40B4-BE49-F238E27FC236}">
                <a16:creationId xmlns:a16="http://schemas.microsoft.com/office/drawing/2014/main" id="{B5898079-081F-4617-AC6B-4290266737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95E151-C19E-5820-9EDC-E4BA6F472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645106"/>
            <a:ext cx="5122652" cy="125989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Həftənin günlərinə görə satış və mənfəət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BB829EC8-5B3D-469E-942E-5E6E569E5C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0160B940-2DF6-1497-008E-23D395FCE5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9225" y="2133600"/>
            <a:ext cx="5122652" cy="375925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L="0" marR="0" lvl="0" indent="0" fontAlgn="base">
              <a:spcBef>
                <a:spcPts val="1000"/>
              </a:spcBef>
              <a:buClr>
                <a:schemeClr val="accent1"/>
              </a:buClr>
              <a:buSzTx/>
              <a:buFont typeface="Wingdings 3" charset="2"/>
              <a:buChar char="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Cümə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günü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satışlar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1,700,859.25 AZN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 –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digərlərindən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kəskin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yüksək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.</a:t>
            </a:r>
          </a:p>
          <a:p>
            <a:pPr marL="0" marR="0" lvl="0" indent="0" fontAlgn="base">
              <a:spcBef>
                <a:spcPts val="1000"/>
              </a:spcBef>
              <a:buClr>
                <a:schemeClr val="accent1"/>
              </a:buClr>
              <a:buSzTx/>
              <a:buFont typeface="Wingdings 3" charset="2"/>
              <a:buChar char="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Mənfəət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də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eyni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tendensiyanı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izləyir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 –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383,216.77 AZN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.</a:t>
            </a:r>
          </a:p>
          <a:p>
            <a:pPr lvl="0" fontAlgn="base"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</a:pPr>
            <a:r>
              <a:rPr lang="en-US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Anomaliya</a:t>
            </a: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Cümə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gününün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dominantlığı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</a:endParaRPr>
          </a:p>
          <a:p>
            <a:pPr marL="0" marR="0" lvl="0" indent="0" fontAlgn="base">
              <a:spcBef>
                <a:spcPts val="1000"/>
              </a:spcBef>
              <a:buClr>
                <a:schemeClr val="accent1"/>
              </a:buClr>
              <a:buSzTx/>
              <a:buFont typeface="Wingdings 3" charset="2"/>
              <a:buChar char="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</a:endParaRPr>
          </a:p>
        </p:txBody>
      </p:sp>
      <p:pic>
        <p:nvPicPr>
          <p:cNvPr id="7" name="Picture 6" descr="A graph of blue and orange bars&#10;&#10;AI-generated content may be incorrect.">
            <a:extLst>
              <a:ext uri="{FF2B5EF4-FFF2-40B4-BE49-F238E27FC236}">
                <a16:creationId xmlns:a16="http://schemas.microsoft.com/office/drawing/2014/main" id="{E37FC5E1-F1B5-E75A-2873-19BD36E9C7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5524" y="645106"/>
            <a:ext cx="3684410" cy="2698831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74771E3-3C9E-7FC1-B7F4-001F5E6B97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6040" y="3576293"/>
            <a:ext cx="5451627" cy="2248795"/>
          </a:xfrm>
          <a:prstGeom prst="rect">
            <a:avLst/>
          </a:prstGeom>
        </p:spPr>
      </p:pic>
      <p:sp>
        <p:nvSpPr>
          <p:cNvPr id="57" name="Freeform 12">
            <a:extLst>
              <a:ext uri="{FF2B5EF4-FFF2-40B4-BE49-F238E27FC236}">
                <a16:creationId xmlns:a16="http://schemas.microsoft.com/office/drawing/2014/main" id="{55D72A3F-A083-4502-838A-2C32C98002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6061223"/>
            <a:ext cx="1038036" cy="506277"/>
          </a:xfrm>
          <a:custGeom>
            <a:avLst/>
            <a:gdLst>
              <a:gd name="connsiteX0" fmla="*/ 0 w 1038036"/>
              <a:gd name="connsiteY0" fmla="*/ 0 h 506277"/>
              <a:gd name="connsiteX1" fmla="*/ 182880 w 1038036"/>
              <a:gd name="connsiteY1" fmla="*/ 0 h 506277"/>
              <a:gd name="connsiteX2" fmla="*/ 291705 w 1038036"/>
              <a:gd name="connsiteY2" fmla="*/ 0 h 506277"/>
              <a:gd name="connsiteX3" fmla="*/ 291705 w 1038036"/>
              <a:gd name="connsiteY3" fmla="*/ 151 h 506277"/>
              <a:gd name="connsiteX4" fmla="*/ 692049 w 1038036"/>
              <a:gd name="connsiteY4" fmla="*/ 705 h 506277"/>
              <a:gd name="connsiteX5" fmla="*/ 782744 w 1038036"/>
              <a:gd name="connsiteY5" fmla="*/ 705 h 506277"/>
              <a:gd name="connsiteX6" fmla="*/ 797001 w 1038036"/>
              <a:gd name="connsiteY6" fmla="*/ 5473 h 506277"/>
              <a:gd name="connsiteX7" fmla="*/ 801982 w 1038036"/>
              <a:gd name="connsiteY7" fmla="*/ 10242 h 506277"/>
              <a:gd name="connsiteX8" fmla="*/ 1030951 w 1038036"/>
              <a:gd name="connsiteY8" fmla="*/ 239185 h 506277"/>
              <a:gd name="connsiteX9" fmla="*/ 1030951 w 1038036"/>
              <a:gd name="connsiteY9" fmla="*/ 267797 h 506277"/>
              <a:gd name="connsiteX10" fmla="*/ 801982 w 1038036"/>
              <a:gd name="connsiteY10" fmla="*/ 496740 h 506277"/>
              <a:gd name="connsiteX11" fmla="*/ 797001 w 1038036"/>
              <a:gd name="connsiteY11" fmla="*/ 501508 h 506277"/>
              <a:gd name="connsiteX12" fmla="*/ 782744 w 1038036"/>
              <a:gd name="connsiteY12" fmla="*/ 506277 h 506277"/>
              <a:gd name="connsiteX13" fmla="*/ 692049 w 1038036"/>
              <a:gd name="connsiteY13" fmla="*/ 506277 h 506277"/>
              <a:gd name="connsiteX14" fmla="*/ 291705 w 1038036"/>
              <a:gd name="connsiteY14" fmla="*/ 505140 h 506277"/>
              <a:gd name="connsiteX15" fmla="*/ 291705 w 1038036"/>
              <a:gd name="connsiteY15" fmla="*/ 506277 h 506277"/>
              <a:gd name="connsiteX16" fmla="*/ 0 w 1038036"/>
              <a:gd name="connsiteY16" fmla="*/ 506277 h 50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38036" h="506277">
                <a:moveTo>
                  <a:pt x="0" y="0"/>
                </a:moveTo>
                <a:lnTo>
                  <a:pt x="182880" y="0"/>
                </a:lnTo>
                <a:lnTo>
                  <a:pt x="291705" y="0"/>
                </a:lnTo>
                <a:lnTo>
                  <a:pt x="291705" y="151"/>
                </a:lnTo>
                <a:lnTo>
                  <a:pt x="692049" y="705"/>
                </a:lnTo>
                <a:lnTo>
                  <a:pt x="782744" y="705"/>
                </a:lnTo>
                <a:cubicBezTo>
                  <a:pt x="787553" y="705"/>
                  <a:pt x="792363" y="5473"/>
                  <a:pt x="797001" y="5473"/>
                </a:cubicBezTo>
                <a:cubicBezTo>
                  <a:pt x="797001" y="10242"/>
                  <a:pt x="801982" y="10242"/>
                  <a:pt x="801982" y="10242"/>
                </a:cubicBezTo>
                <a:lnTo>
                  <a:pt x="1030951" y="239185"/>
                </a:lnTo>
                <a:cubicBezTo>
                  <a:pt x="1040398" y="248722"/>
                  <a:pt x="1040398" y="258259"/>
                  <a:pt x="1030951" y="267797"/>
                </a:cubicBezTo>
                <a:lnTo>
                  <a:pt x="801982" y="496740"/>
                </a:lnTo>
                <a:cubicBezTo>
                  <a:pt x="800436" y="498363"/>
                  <a:pt x="798547" y="499885"/>
                  <a:pt x="797001" y="501508"/>
                </a:cubicBezTo>
                <a:cubicBezTo>
                  <a:pt x="792363" y="506277"/>
                  <a:pt x="787553" y="506277"/>
                  <a:pt x="782744" y="506277"/>
                </a:cubicBezTo>
                <a:lnTo>
                  <a:pt x="692049" y="506277"/>
                </a:lnTo>
                <a:lnTo>
                  <a:pt x="291705" y="505140"/>
                </a:lnTo>
                <a:lnTo>
                  <a:pt x="291705" y="506277"/>
                </a:lnTo>
                <a:lnTo>
                  <a:pt x="0" y="50627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2765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5898079-081F-4617-AC6B-4290266737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FBE3F2-9A1B-3DC9-1F3F-84B3FE755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645106"/>
            <a:ext cx="5122652" cy="125989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/>
              <a:t>POS üzrə Top 5 satış və mənfəət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B829EC8-5B3D-469E-942E-5E6E569E5C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AEF809-879C-08EE-D619-34D554E5657A}"/>
              </a:ext>
            </a:extLst>
          </p:cNvPr>
          <p:cNvSpPr txBox="1"/>
          <p:nvPr/>
        </p:nvSpPr>
        <p:spPr>
          <a:xfrm>
            <a:off x="649225" y="2133600"/>
            <a:ext cx="5122652" cy="37592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BRAVO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Satış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– 2,225,313.38 AZN,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Mənfəət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– 541,378.97 AZN.</a:t>
            </a:r>
          </a:p>
          <a:p>
            <a:pPr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OBA MARKET – 947,799.74 AZN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satış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172,825.73 AZN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mənfəət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  <a:p>
            <a:pPr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BRAVO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ilə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digərləri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arasında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2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dəfədən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çox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fərq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  <a:p>
            <a:pPr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</a:pPr>
            <a:r>
              <a:rPr lang="en-US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Anomaliya</a:t>
            </a: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BRAVO-nun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kəskin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üstünlüyü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– filial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sayı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kampaniyalar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və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ya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data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qeydi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fərqləri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08225E3-10EC-885E-8ED9-D79CF8766E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9129" y="413993"/>
            <a:ext cx="4625170" cy="330699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2379D64-189A-9AAB-42E9-B1C3501467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0376" y="4000885"/>
            <a:ext cx="6103124" cy="1891968"/>
          </a:xfrm>
          <a:prstGeom prst="rect">
            <a:avLst/>
          </a:prstGeom>
        </p:spPr>
      </p:pic>
      <p:sp>
        <p:nvSpPr>
          <p:cNvPr id="18" name="Freeform 12">
            <a:extLst>
              <a:ext uri="{FF2B5EF4-FFF2-40B4-BE49-F238E27FC236}">
                <a16:creationId xmlns:a16="http://schemas.microsoft.com/office/drawing/2014/main" id="{55D72A3F-A083-4502-838A-2C32C98002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6061223"/>
            <a:ext cx="1038036" cy="506277"/>
          </a:xfrm>
          <a:custGeom>
            <a:avLst/>
            <a:gdLst>
              <a:gd name="connsiteX0" fmla="*/ 0 w 1038036"/>
              <a:gd name="connsiteY0" fmla="*/ 0 h 506277"/>
              <a:gd name="connsiteX1" fmla="*/ 182880 w 1038036"/>
              <a:gd name="connsiteY1" fmla="*/ 0 h 506277"/>
              <a:gd name="connsiteX2" fmla="*/ 291705 w 1038036"/>
              <a:gd name="connsiteY2" fmla="*/ 0 h 506277"/>
              <a:gd name="connsiteX3" fmla="*/ 291705 w 1038036"/>
              <a:gd name="connsiteY3" fmla="*/ 151 h 506277"/>
              <a:gd name="connsiteX4" fmla="*/ 692049 w 1038036"/>
              <a:gd name="connsiteY4" fmla="*/ 705 h 506277"/>
              <a:gd name="connsiteX5" fmla="*/ 782744 w 1038036"/>
              <a:gd name="connsiteY5" fmla="*/ 705 h 506277"/>
              <a:gd name="connsiteX6" fmla="*/ 797001 w 1038036"/>
              <a:gd name="connsiteY6" fmla="*/ 5473 h 506277"/>
              <a:gd name="connsiteX7" fmla="*/ 801982 w 1038036"/>
              <a:gd name="connsiteY7" fmla="*/ 10242 h 506277"/>
              <a:gd name="connsiteX8" fmla="*/ 1030951 w 1038036"/>
              <a:gd name="connsiteY8" fmla="*/ 239185 h 506277"/>
              <a:gd name="connsiteX9" fmla="*/ 1030951 w 1038036"/>
              <a:gd name="connsiteY9" fmla="*/ 267797 h 506277"/>
              <a:gd name="connsiteX10" fmla="*/ 801982 w 1038036"/>
              <a:gd name="connsiteY10" fmla="*/ 496740 h 506277"/>
              <a:gd name="connsiteX11" fmla="*/ 797001 w 1038036"/>
              <a:gd name="connsiteY11" fmla="*/ 501508 h 506277"/>
              <a:gd name="connsiteX12" fmla="*/ 782744 w 1038036"/>
              <a:gd name="connsiteY12" fmla="*/ 506277 h 506277"/>
              <a:gd name="connsiteX13" fmla="*/ 692049 w 1038036"/>
              <a:gd name="connsiteY13" fmla="*/ 506277 h 506277"/>
              <a:gd name="connsiteX14" fmla="*/ 291705 w 1038036"/>
              <a:gd name="connsiteY14" fmla="*/ 505140 h 506277"/>
              <a:gd name="connsiteX15" fmla="*/ 291705 w 1038036"/>
              <a:gd name="connsiteY15" fmla="*/ 506277 h 506277"/>
              <a:gd name="connsiteX16" fmla="*/ 0 w 1038036"/>
              <a:gd name="connsiteY16" fmla="*/ 506277 h 50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38036" h="506277">
                <a:moveTo>
                  <a:pt x="0" y="0"/>
                </a:moveTo>
                <a:lnTo>
                  <a:pt x="182880" y="0"/>
                </a:lnTo>
                <a:lnTo>
                  <a:pt x="291705" y="0"/>
                </a:lnTo>
                <a:lnTo>
                  <a:pt x="291705" y="151"/>
                </a:lnTo>
                <a:lnTo>
                  <a:pt x="692049" y="705"/>
                </a:lnTo>
                <a:lnTo>
                  <a:pt x="782744" y="705"/>
                </a:lnTo>
                <a:cubicBezTo>
                  <a:pt x="787553" y="705"/>
                  <a:pt x="792363" y="5473"/>
                  <a:pt x="797001" y="5473"/>
                </a:cubicBezTo>
                <a:cubicBezTo>
                  <a:pt x="797001" y="10242"/>
                  <a:pt x="801982" y="10242"/>
                  <a:pt x="801982" y="10242"/>
                </a:cubicBezTo>
                <a:lnTo>
                  <a:pt x="1030951" y="239185"/>
                </a:lnTo>
                <a:cubicBezTo>
                  <a:pt x="1040398" y="248722"/>
                  <a:pt x="1040398" y="258259"/>
                  <a:pt x="1030951" y="267797"/>
                </a:cubicBezTo>
                <a:lnTo>
                  <a:pt x="801982" y="496740"/>
                </a:lnTo>
                <a:cubicBezTo>
                  <a:pt x="800436" y="498363"/>
                  <a:pt x="798547" y="499885"/>
                  <a:pt x="797001" y="501508"/>
                </a:cubicBezTo>
                <a:cubicBezTo>
                  <a:pt x="792363" y="506277"/>
                  <a:pt x="787553" y="506277"/>
                  <a:pt x="782744" y="506277"/>
                </a:cubicBezTo>
                <a:lnTo>
                  <a:pt x="692049" y="506277"/>
                </a:lnTo>
                <a:lnTo>
                  <a:pt x="291705" y="505140"/>
                </a:lnTo>
                <a:lnTo>
                  <a:pt x="291705" y="506277"/>
                </a:lnTo>
                <a:lnTo>
                  <a:pt x="0" y="50627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058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F4C104D-5F30-4811-9376-566B26E471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492868-5EE8-AED9-185D-821F97EA2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645106"/>
            <a:ext cx="3650279" cy="125989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100" b="1" err="1"/>
              <a:t>Tarixlər</a:t>
            </a:r>
            <a:r>
              <a:rPr lang="en-US" sz="3100" b="1"/>
              <a:t> </a:t>
            </a:r>
            <a:r>
              <a:rPr lang="en-US" sz="3100" b="1" err="1"/>
              <a:t>üzrə</a:t>
            </a:r>
            <a:r>
              <a:rPr lang="en-US" sz="3100" b="1"/>
              <a:t> </a:t>
            </a:r>
            <a:r>
              <a:rPr lang="en-US" sz="3100" b="1" err="1"/>
              <a:t>qəbz</a:t>
            </a:r>
            <a:r>
              <a:rPr lang="en-US" sz="3100" b="1"/>
              <a:t>, </a:t>
            </a:r>
            <a:r>
              <a:rPr lang="en-US" sz="3100" b="1" err="1"/>
              <a:t>satış</a:t>
            </a:r>
            <a:r>
              <a:rPr lang="en-US" sz="3100" b="1"/>
              <a:t> </a:t>
            </a:r>
            <a:r>
              <a:rPr lang="en-US" sz="3100" b="1" err="1"/>
              <a:t>və</a:t>
            </a:r>
            <a:r>
              <a:rPr lang="en-US" sz="3100" b="1"/>
              <a:t> </a:t>
            </a:r>
            <a:r>
              <a:rPr lang="en-US" sz="3100" b="1" err="1"/>
              <a:t>mənfəət</a:t>
            </a:r>
            <a:endParaRPr lang="en-US" sz="31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815E34B-5D02-4E01-A936-E8E1C0AB6F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4AB212-1634-F963-9DE5-8710E5BE53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5" y="2133600"/>
            <a:ext cx="3650278" cy="3759253"/>
          </a:xfrm>
        </p:spPr>
        <p:txBody>
          <a:bodyPr>
            <a:normAutofit/>
          </a:bodyPr>
          <a:lstStyle/>
          <a:p>
            <a:r>
              <a:rPr lang="en-US"/>
              <a:t>Ən yüksək göstərici </a:t>
            </a:r>
            <a:r>
              <a:rPr lang="en-US" b="1"/>
              <a:t>2024-04-19</a:t>
            </a:r>
            <a:r>
              <a:rPr lang="en-US"/>
              <a:t> tarixində:</a:t>
            </a:r>
          </a:p>
          <a:p>
            <a:pPr lvl="1"/>
            <a:r>
              <a:rPr lang="en-US"/>
              <a:t>Qəbz sayı: 142,612</a:t>
            </a:r>
          </a:p>
          <a:p>
            <a:pPr lvl="1"/>
            <a:r>
              <a:rPr lang="en-US"/>
              <a:t>Satış: 1,148,217 AZN</a:t>
            </a:r>
          </a:p>
          <a:p>
            <a:pPr lvl="1"/>
            <a:r>
              <a:rPr lang="en-US"/>
              <a:t>Mənfəət: 259,166 AZN</a:t>
            </a:r>
          </a:p>
          <a:p>
            <a:r>
              <a:rPr lang="en-US" b="1"/>
              <a:t>Anomaliya:</a:t>
            </a:r>
            <a:r>
              <a:rPr lang="en-US"/>
              <a:t> Mart və aprelin ilk yarısının satışlarının </a:t>
            </a:r>
            <a:r>
              <a:rPr lang="en-US" b="1"/>
              <a:t>19 aprelə yığılması</a:t>
            </a:r>
            <a:r>
              <a:rPr lang="en-US"/>
              <a:t> → texniki qeydetmə səbəbi.</a:t>
            </a:r>
          </a:p>
          <a:p>
            <a:endParaRPr lang="en-US"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0C4E0A9-E9EF-6D5D-6019-CA813DE47D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9543" y="1597608"/>
            <a:ext cx="6953577" cy="3337716"/>
          </a:xfrm>
          <a:prstGeom prst="rect">
            <a:avLst/>
          </a:prstGeom>
        </p:spPr>
      </p:pic>
      <p:sp>
        <p:nvSpPr>
          <p:cNvPr id="18" name="Freeform 11">
            <a:extLst>
              <a:ext uri="{FF2B5EF4-FFF2-40B4-BE49-F238E27FC236}">
                <a16:creationId xmlns:a16="http://schemas.microsoft.com/office/drawing/2014/main" id="{7DE3414B-B032-4710-A468-D3285E38C5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6061223"/>
            <a:ext cx="1038036" cy="506277"/>
          </a:xfrm>
          <a:custGeom>
            <a:avLst/>
            <a:gdLst>
              <a:gd name="connsiteX0" fmla="*/ 0 w 1038036"/>
              <a:gd name="connsiteY0" fmla="*/ 0 h 506277"/>
              <a:gd name="connsiteX1" fmla="*/ 182880 w 1038036"/>
              <a:gd name="connsiteY1" fmla="*/ 0 h 506277"/>
              <a:gd name="connsiteX2" fmla="*/ 291705 w 1038036"/>
              <a:gd name="connsiteY2" fmla="*/ 0 h 506277"/>
              <a:gd name="connsiteX3" fmla="*/ 291705 w 1038036"/>
              <a:gd name="connsiteY3" fmla="*/ 151 h 506277"/>
              <a:gd name="connsiteX4" fmla="*/ 692049 w 1038036"/>
              <a:gd name="connsiteY4" fmla="*/ 705 h 506277"/>
              <a:gd name="connsiteX5" fmla="*/ 782744 w 1038036"/>
              <a:gd name="connsiteY5" fmla="*/ 705 h 506277"/>
              <a:gd name="connsiteX6" fmla="*/ 797001 w 1038036"/>
              <a:gd name="connsiteY6" fmla="*/ 5473 h 506277"/>
              <a:gd name="connsiteX7" fmla="*/ 801982 w 1038036"/>
              <a:gd name="connsiteY7" fmla="*/ 10242 h 506277"/>
              <a:gd name="connsiteX8" fmla="*/ 1030951 w 1038036"/>
              <a:gd name="connsiteY8" fmla="*/ 239185 h 506277"/>
              <a:gd name="connsiteX9" fmla="*/ 1030951 w 1038036"/>
              <a:gd name="connsiteY9" fmla="*/ 267797 h 506277"/>
              <a:gd name="connsiteX10" fmla="*/ 801982 w 1038036"/>
              <a:gd name="connsiteY10" fmla="*/ 496740 h 506277"/>
              <a:gd name="connsiteX11" fmla="*/ 797001 w 1038036"/>
              <a:gd name="connsiteY11" fmla="*/ 501508 h 506277"/>
              <a:gd name="connsiteX12" fmla="*/ 782744 w 1038036"/>
              <a:gd name="connsiteY12" fmla="*/ 506277 h 506277"/>
              <a:gd name="connsiteX13" fmla="*/ 692049 w 1038036"/>
              <a:gd name="connsiteY13" fmla="*/ 506277 h 506277"/>
              <a:gd name="connsiteX14" fmla="*/ 291705 w 1038036"/>
              <a:gd name="connsiteY14" fmla="*/ 505140 h 506277"/>
              <a:gd name="connsiteX15" fmla="*/ 291705 w 1038036"/>
              <a:gd name="connsiteY15" fmla="*/ 506277 h 506277"/>
              <a:gd name="connsiteX16" fmla="*/ 0 w 1038036"/>
              <a:gd name="connsiteY16" fmla="*/ 506277 h 50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38036" h="506277">
                <a:moveTo>
                  <a:pt x="0" y="0"/>
                </a:moveTo>
                <a:lnTo>
                  <a:pt x="182880" y="0"/>
                </a:lnTo>
                <a:lnTo>
                  <a:pt x="291705" y="0"/>
                </a:lnTo>
                <a:lnTo>
                  <a:pt x="291705" y="151"/>
                </a:lnTo>
                <a:lnTo>
                  <a:pt x="692049" y="705"/>
                </a:lnTo>
                <a:lnTo>
                  <a:pt x="782744" y="705"/>
                </a:lnTo>
                <a:cubicBezTo>
                  <a:pt x="787553" y="705"/>
                  <a:pt x="792363" y="5473"/>
                  <a:pt x="797001" y="5473"/>
                </a:cubicBezTo>
                <a:cubicBezTo>
                  <a:pt x="797001" y="10242"/>
                  <a:pt x="801982" y="10242"/>
                  <a:pt x="801982" y="10242"/>
                </a:cubicBezTo>
                <a:lnTo>
                  <a:pt x="1030951" y="239185"/>
                </a:lnTo>
                <a:cubicBezTo>
                  <a:pt x="1040398" y="248722"/>
                  <a:pt x="1040398" y="258259"/>
                  <a:pt x="1030951" y="267797"/>
                </a:cubicBezTo>
                <a:lnTo>
                  <a:pt x="801982" y="496740"/>
                </a:lnTo>
                <a:cubicBezTo>
                  <a:pt x="800436" y="498363"/>
                  <a:pt x="798547" y="499885"/>
                  <a:pt x="797001" y="501508"/>
                </a:cubicBezTo>
                <a:cubicBezTo>
                  <a:pt x="792363" y="506277"/>
                  <a:pt x="787553" y="506277"/>
                  <a:pt x="782744" y="506277"/>
                </a:cubicBezTo>
                <a:lnTo>
                  <a:pt x="692049" y="506277"/>
                </a:lnTo>
                <a:lnTo>
                  <a:pt x="291705" y="505140"/>
                </a:lnTo>
                <a:lnTo>
                  <a:pt x="291705" y="506277"/>
                </a:lnTo>
                <a:lnTo>
                  <a:pt x="0" y="50627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1867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roup 58">
            <a:extLst>
              <a:ext uri="{FF2B5EF4-FFF2-40B4-BE49-F238E27FC236}">
                <a16:creationId xmlns:a16="http://schemas.microsoft.com/office/drawing/2014/main" id="{8CD25866-F15D-40A4-AEC5-47C044637A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</p:grpSpPr>
        <p:sp>
          <p:nvSpPr>
            <p:cNvPr id="60" name="Freeform 11">
              <a:extLst>
                <a:ext uri="{FF2B5EF4-FFF2-40B4-BE49-F238E27FC236}">
                  <a16:creationId xmlns:a16="http://schemas.microsoft.com/office/drawing/2014/main" id="{DCB8E995-36E8-40B6-82D4-F52DE2987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12">
              <a:extLst>
                <a:ext uri="{FF2B5EF4-FFF2-40B4-BE49-F238E27FC236}">
                  <a16:creationId xmlns:a16="http://schemas.microsoft.com/office/drawing/2014/main" id="{DF54AEB5-68B5-46AE-B8F0-EEBE5DFED8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13">
              <a:extLst>
                <a:ext uri="{FF2B5EF4-FFF2-40B4-BE49-F238E27FC236}">
                  <a16:creationId xmlns:a16="http://schemas.microsoft.com/office/drawing/2014/main" id="{E3F708CB-F094-4EE7-8AD5-A462F1DF8B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14">
              <a:extLst>
                <a:ext uri="{FF2B5EF4-FFF2-40B4-BE49-F238E27FC236}">
                  <a16:creationId xmlns:a16="http://schemas.microsoft.com/office/drawing/2014/main" id="{ECFCFB22-E8B5-4FAC-A354-E7E0CE6F2B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15">
              <a:extLst>
                <a:ext uri="{FF2B5EF4-FFF2-40B4-BE49-F238E27FC236}">
                  <a16:creationId xmlns:a16="http://schemas.microsoft.com/office/drawing/2014/main" id="{ED1DB3B4-A6DC-476F-986E-DF361EE842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Freeform 16">
              <a:extLst>
                <a:ext uri="{FF2B5EF4-FFF2-40B4-BE49-F238E27FC236}">
                  <a16:creationId xmlns:a16="http://schemas.microsoft.com/office/drawing/2014/main" id="{4EE13DFA-3489-4DE6-9154-34D9CB4005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Freeform 17">
              <a:extLst>
                <a:ext uri="{FF2B5EF4-FFF2-40B4-BE49-F238E27FC236}">
                  <a16:creationId xmlns:a16="http://schemas.microsoft.com/office/drawing/2014/main" id="{5CD12D51-F9A8-4CC9-B9C9-206EAFD8C1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Freeform 18">
              <a:extLst>
                <a:ext uri="{FF2B5EF4-FFF2-40B4-BE49-F238E27FC236}">
                  <a16:creationId xmlns:a16="http://schemas.microsoft.com/office/drawing/2014/main" id="{266B326C-1178-40F9-A265-6067D363B4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Freeform 19">
              <a:extLst>
                <a:ext uri="{FF2B5EF4-FFF2-40B4-BE49-F238E27FC236}">
                  <a16:creationId xmlns:a16="http://schemas.microsoft.com/office/drawing/2014/main" id="{12F3B319-F00B-4755-BC54-95511E21DB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Freeform 20">
              <a:extLst>
                <a:ext uri="{FF2B5EF4-FFF2-40B4-BE49-F238E27FC236}">
                  <a16:creationId xmlns:a16="http://schemas.microsoft.com/office/drawing/2014/main" id="{3079D7BD-8A3F-47F6-8407-D9DA96FF35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0" name="Freeform 21">
              <a:extLst>
                <a:ext uri="{FF2B5EF4-FFF2-40B4-BE49-F238E27FC236}">
                  <a16:creationId xmlns:a16="http://schemas.microsoft.com/office/drawing/2014/main" id="{1F97C31C-8585-43FB-924B-8ADD651233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Freeform 22">
              <a:extLst>
                <a:ext uri="{FF2B5EF4-FFF2-40B4-BE49-F238E27FC236}">
                  <a16:creationId xmlns:a16="http://schemas.microsoft.com/office/drawing/2014/main" id="{A33E1C89-7E74-49BF-A5D1-9A352ED03E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0C4A17ED-96AA-44A6-A050-E1A7A1CDD9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786"/>
            <a:ext cx="2356675" cy="6854040"/>
            <a:chOff x="6627813" y="194833"/>
            <a:chExt cx="1952625" cy="5678918"/>
          </a:xfrm>
        </p:grpSpPr>
        <p:sp>
          <p:nvSpPr>
            <p:cNvPr id="73" name="Freeform 27">
              <a:extLst>
                <a:ext uri="{FF2B5EF4-FFF2-40B4-BE49-F238E27FC236}">
                  <a16:creationId xmlns:a16="http://schemas.microsoft.com/office/drawing/2014/main" id="{FBB2A87E-3E24-4A6F-9FD8-0F1436D4D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Freeform 28">
              <a:extLst>
                <a:ext uri="{FF2B5EF4-FFF2-40B4-BE49-F238E27FC236}">
                  <a16:creationId xmlns:a16="http://schemas.microsoft.com/office/drawing/2014/main" id="{257F945B-2AA3-4328-BFF5-20DE64011B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5" name="Freeform 29">
              <a:extLst>
                <a:ext uri="{FF2B5EF4-FFF2-40B4-BE49-F238E27FC236}">
                  <a16:creationId xmlns:a16="http://schemas.microsoft.com/office/drawing/2014/main" id="{E1A7230F-6A6F-403C-9D83-7176E28525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Freeform 30">
              <a:extLst>
                <a:ext uri="{FF2B5EF4-FFF2-40B4-BE49-F238E27FC236}">
                  <a16:creationId xmlns:a16="http://schemas.microsoft.com/office/drawing/2014/main" id="{E33E315A-9CB0-460E-A8B7-0A064BBFA0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7" name="Freeform 31">
              <a:extLst>
                <a:ext uri="{FF2B5EF4-FFF2-40B4-BE49-F238E27FC236}">
                  <a16:creationId xmlns:a16="http://schemas.microsoft.com/office/drawing/2014/main" id="{22CAAD33-CFAD-4E61-82AE-0C6F838530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Freeform 32">
              <a:extLst>
                <a:ext uri="{FF2B5EF4-FFF2-40B4-BE49-F238E27FC236}">
                  <a16:creationId xmlns:a16="http://schemas.microsoft.com/office/drawing/2014/main" id="{1A20E13C-2540-4000-A13B-8F781100E3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9" name="Freeform 33">
              <a:extLst>
                <a:ext uri="{FF2B5EF4-FFF2-40B4-BE49-F238E27FC236}">
                  <a16:creationId xmlns:a16="http://schemas.microsoft.com/office/drawing/2014/main" id="{51EF0A01-E03D-448B-B12E-D5BFC6D0D2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0" name="Freeform 34">
              <a:extLst>
                <a:ext uri="{FF2B5EF4-FFF2-40B4-BE49-F238E27FC236}">
                  <a16:creationId xmlns:a16="http://schemas.microsoft.com/office/drawing/2014/main" id="{58286A03-168E-477B-8876-2C53E4950D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Freeform 35">
              <a:extLst>
                <a:ext uri="{FF2B5EF4-FFF2-40B4-BE49-F238E27FC236}">
                  <a16:creationId xmlns:a16="http://schemas.microsoft.com/office/drawing/2014/main" id="{3DFFC705-1899-4E4C-AE76-F85BAF2F66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Freeform 36">
              <a:extLst>
                <a:ext uri="{FF2B5EF4-FFF2-40B4-BE49-F238E27FC236}">
                  <a16:creationId xmlns:a16="http://schemas.microsoft.com/office/drawing/2014/main" id="{01C9598D-BDF6-4A24-83B6-4DCA4D1349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3" name="Freeform 37">
              <a:extLst>
                <a:ext uri="{FF2B5EF4-FFF2-40B4-BE49-F238E27FC236}">
                  <a16:creationId xmlns:a16="http://schemas.microsoft.com/office/drawing/2014/main" id="{950C8213-67CD-4DEF-AA44-8BB3101392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Freeform 38">
              <a:extLst>
                <a:ext uri="{FF2B5EF4-FFF2-40B4-BE49-F238E27FC236}">
                  <a16:creationId xmlns:a16="http://schemas.microsoft.com/office/drawing/2014/main" id="{2016FE1D-E3EB-4CF6-809B-159872CC78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5" name="Rectangle 84">
            <a:extLst>
              <a:ext uri="{FF2B5EF4-FFF2-40B4-BE49-F238E27FC236}">
                <a16:creationId xmlns:a16="http://schemas.microsoft.com/office/drawing/2014/main" id="{CE6C63DC-BAE4-42B6-8FDF-F6467C2D2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6" name="Freeform 6">
            <a:extLst>
              <a:ext uri="{FF2B5EF4-FFF2-40B4-BE49-F238E27FC236}">
                <a16:creationId xmlns:a16="http://schemas.microsoft.com/office/drawing/2014/main" id="{5BD23F8E-2E78-4C84-8EFB-FE6C8ACB7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 useBgFill="1">
        <p:nvSpPr>
          <p:cNvPr id="87" name="Rectangle 86">
            <a:extLst>
              <a:ext uri="{FF2B5EF4-FFF2-40B4-BE49-F238E27FC236}">
                <a16:creationId xmlns:a16="http://schemas.microsoft.com/office/drawing/2014/main" id="{57ABABA7-0420-4200-9B65-1C1967CE93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A317EBE3-FF86-4DA1-BC9A-331F7F2144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89" name="Group 88">
            <a:extLst>
              <a:ext uri="{FF2B5EF4-FFF2-40B4-BE49-F238E27FC236}">
                <a16:creationId xmlns:a16="http://schemas.microsoft.com/office/drawing/2014/main" id="{7A03E380-9CD1-4ABA-A763-9F9D252B89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6009967" y="0"/>
            <a:ext cx="6176982" cy="6853245"/>
            <a:chOff x="2487613" y="285750"/>
            <a:chExt cx="2428876" cy="5654676"/>
          </a:xfrm>
          <a:solidFill>
            <a:schemeClr val="bg2">
              <a:lumMod val="90000"/>
            </a:schemeClr>
          </a:solidFill>
        </p:grpSpPr>
        <p:sp>
          <p:nvSpPr>
            <p:cNvPr id="90" name="Freeform 11">
              <a:extLst>
                <a:ext uri="{FF2B5EF4-FFF2-40B4-BE49-F238E27FC236}">
                  <a16:creationId xmlns:a16="http://schemas.microsoft.com/office/drawing/2014/main" id="{66E01B84-4C2B-4DE5-90C8-9C4001A75B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1" name="Freeform 12">
              <a:extLst>
                <a:ext uri="{FF2B5EF4-FFF2-40B4-BE49-F238E27FC236}">
                  <a16:creationId xmlns:a16="http://schemas.microsoft.com/office/drawing/2014/main" id="{64CE5A7A-D5C5-4FE5-860C-0B5748FDEE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" name="Freeform 13">
              <a:extLst>
                <a:ext uri="{FF2B5EF4-FFF2-40B4-BE49-F238E27FC236}">
                  <a16:creationId xmlns:a16="http://schemas.microsoft.com/office/drawing/2014/main" id="{016A7D2A-6EEA-47B8-A763-7D82E41B3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3" name="Freeform 14">
              <a:extLst>
                <a:ext uri="{FF2B5EF4-FFF2-40B4-BE49-F238E27FC236}">
                  <a16:creationId xmlns:a16="http://schemas.microsoft.com/office/drawing/2014/main" id="{E758F6E7-6DEC-48D0-ACB1-E5E26B13E6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4" name="Freeform 15">
              <a:extLst>
                <a:ext uri="{FF2B5EF4-FFF2-40B4-BE49-F238E27FC236}">
                  <a16:creationId xmlns:a16="http://schemas.microsoft.com/office/drawing/2014/main" id="{B56657FF-C027-42E7-859B-902929B6FA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5" name="Freeform 16">
              <a:extLst>
                <a:ext uri="{FF2B5EF4-FFF2-40B4-BE49-F238E27FC236}">
                  <a16:creationId xmlns:a16="http://schemas.microsoft.com/office/drawing/2014/main" id="{79047F2A-5978-46C6-B3A2-54AAC2136B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6" name="Freeform 17">
              <a:extLst>
                <a:ext uri="{FF2B5EF4-FFF2-40B4-BE49-F238E27FC236}">
                  <a16:creationId xmlns:a16="http://schemas.microsoft.com/office/drawing/2014/main" id="{F3BE8FD1-0A72-4640-AC7A-2E057273F8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7" name="Freeform 18">
              <a:extLst>
                <a:ext uri="{FF2B5EF4-FFF2-40B4-BE49-F238E27FC236}">
                  <a16:creationId xmlns:a16="http://schemas.microsoft.com/office/drawing/2014/main" id="{752FC782-A372-4D11-B20D-958955E564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8" name="Freeform 19">
              <a:extLst>
                <a:ext uri="{FF2B5EF4-FFF2-40B4-BE49-F238E27FC236}">
                  <a16:creationId xmlns:a16="http://schemas.microsoft.com/office/drawing/2014/main" id="{AA00B2F1-BEE2-444A-8249-C8E3212CA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4" y="468286"/>
              <a:ext cx="1768475" cy="4262464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9" name="Freeform 20">
              <a:extLst>
                <a:ext uri="{FF2B5EF4-FFF2-40B4-BE49-F238E27FC236}">
                  <a16:creationId xmlns:a16="http://schemas.microsoft.com/office/drawing/2014/main" id="{E7F5747E-514B-4CF7-B6B0-DAD7149097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21">
              <a:extLst>
                <a:ext uri="{FF2B5EF4-FFF2-40B4-BE49-F238E27FC236}">
                  <a16:creationId xmlns:a16="http://schemas.microsoft.com/office/drawing/2014/main" id="{931614BB-1593-40ED-8113-2BD1187055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0" name="Freeform 22">
              <a:extLst>
                <a:ext uri="{FF2B5EF4-FFF2-40B4-BE49-F238E27FC236}">
                  <a16:creationId xmlns:a16="http://schemas.microsoft.com/office/drawing/2014/main" id="{2691871F-F15C-4E19-BC9C-78E5748D74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7FCCC43-9124-F2D9-0AB9-E299D2390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4103" y="1318591"/>
            <a:ext cx="5800929" cy="42208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6600">
                <a:solidFill>
                  <a:schemeClr val="tx2">
                    <a:lumMod val="75000"/>
                  </a:schemeClr>
                </a:solidFill>
              </a:rPr>
              <a:t>Proqnoz və Fərziyyələr</a:t>
            </a:r>
          </a:p>
        </p:txBody>
      </p: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34D43EC1-35FA-4FC3-8526-F655CEB09D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37196" y="1871831"/>
            <a:ext cx="0" cy="3200400"/>
          </a:xfrm>
          <a:prstGeom prst="line">
            <a:avLst/>
          </a:prstGeom>
          <a:ln w="158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58710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F4C104D-5F30-4811-9376-566B26E471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BFDD99-AC84-A044-28DE-BE77C7FDF2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645106"/>
            <a:ext cx="3650279" cy="1259894"/>
          </a:xfrm>
        </p:spPr>
        <p:txBody>
          <a:bodyPr>
            <a:normAutofit/>
          </a:bodyPr>
          <a:lstStyle/>
          <a:p>
            <a:r>
              <a:rPr lang="en-US" dirty="0" err="1"/>
              <a:t>Regressiya</a:t>
            </a:r>
            <a:r>
              <a:rPr lang="en-US" dirty="0"/>
              <a:t> </a:t>
            </a:r>
            <a:r>
              <a:rPr lang="en-US" dirty="0" err="1"/>
              <a:t>Modeli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815E34B-5D02-4E01-A936-E8E1C0AB6F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E6EFCF6-A8EA-F9EE-E6BD-F951E83A0FA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9225" y="2133600"/>
            <a:ext cx="3650278" cy="375925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</a:pP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Qurulan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model:</a:t>
            </a:r>
            <a:b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</a:br>
            <a:r>
              <a:rPr kumimoji="0" lang="en-US" altLang="en-US" b="0" i="1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profit ~ </a:t>
            </a:r>
            <a:r>
              <a:rPr kumimoji="0" lang="en-US" altLang="en-US" b="0" i="1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total_sales</a:t>
            </a:r>
            <a:r>
              <a:rPr kumimoji="0" lang="en-US" altLang="en-US" b="0" i="1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+ </a:t>
            </a:r>
            <a:r>
              <a:rPr kumimoji="0" lang="en-US" altLang="en-US" b="0" i="1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profit_margin</a:t>
            </a:r>
            <a:endParaRPr kumimoji="0" lang="en-US" altLang="en-US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Əsas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nəticələr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</a:t>
            </a:r>
          </a:p>
          <a:p>
            <a:pPr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R² = </a:t>
            </a: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0.8005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→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mənfəətin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80%-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i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satış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və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marja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ilə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izah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olunur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  <a:p>
            <a:pPr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</a:pPr>
            <a:r>
              <a:rPr kumimoji="0" lang="en-US" altLang="en-US" b="1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total_sales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əmsalı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= 0.238 →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satış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artdıqca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mənfəət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artır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  <a:p>
            <a:pPr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</a:pPr>
            <a:r>
              <a:rPr kumimoji="0" lang="en-US" altLang="en-US" b="1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profit_margin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əmsalı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= 7.73 →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kiçik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dəyişiklik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belə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mənfəətdə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böyük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təsir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yaradır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  <a:p>
            <a:pPr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</a:pPr>
            <a:endParaRPr kumimoji="0" lang="en-US" altLang="en-US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C94AFE5-CFCE-D937-5A31-9A865E7B9C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9543" y="1710604"/>
            <a:ext cx="6953577" cy="3111725"/>
          </a:xfrm>
          <a:prstGeom prst="rect">
            <a:avLst/>
          </a:prstGeom>
        </p:spPr>
      </p:pic>
      <p:sp>
        <p:nvSpPr>
          <p:cNvPr id="15" name="Freeform 11">
            <a:extLst>
              <a:ext uri="{FF2B5EF4-FFF2-40B4-BE49-F238E27FC236}">
                <a16:creationId xmlns:a16="http://schemas.microsoft.com/office/drawing/2014/main" id="{7DE3414B-B032-4710-A468-D3285E38C5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6061223"/>
            <a:ext cx="1038036" cy="506277"/>
          </a:xfrm>
          <a:custGeom>
            <a:avLst/>
            <a:gdLst>
              <a:gd name="connsiteX0" fmla="*/ 0 w 1038036"/>
              <a:gd name="connsiteY0" fmla="*/ 0 h 506277"/>
              <a:gd name="connsiteX1" fmla="*/ 182880 w 1038036"/>
              <a:gd name="connsiteY1" fmla="*/ 0 h 506277"/>
              <a:gd name="connsiteX2" fmla="*/ 291705 w 1038036"/>
              <a:gd name="connsiteY2" fmla="*/ 0 h 506277"/>
              <a:gd name="connsiteX3" fmla="*/ 291705 w 1038036"/>
              <a:gd name="connsiteY3" fmla="*/ 151 h 506277"/>
              <a:gd name="connsiteX4" fmla="*/ 692049 w 1038036"/>
              <a:gd name="connsiteY4" fmla="*/ 705 h 506277"/>
              <a:gd name="connsiteX5" fmla="*/ 782744 w 1038036"/>
              <a:gd name="connsiteY5" fmla="*/ 705 h 506277"/>
              <a:gd name="connsiteX6" fmla="*/ 797001 w 1038036"/>
              <a:gd name="connsiteY6" fmla="*/ 5473 h 506277"/>
              <a:gd name="connsiteX7" fmla="*/ 801982 w 1038036"/>
              <a:gd name="connsiteY7" fmla="*/ 10242 h 506277"/>
              <a:gd name="connsiteX8" fmla="*/ 1030951 w 1038036"/>
              <a:gd name="connsiteY8" fmla="*/ 239185 h 506277"/>
              <a:gd name="connsiteX9" fmla="*/ 1030951 w 1038036"/>
              <a:gd name="connsiteY9" fmla="*/ 267797 h 506277"/>
              <a:gd name="connsiteX10" fmla="*/ 801982 w 1038036"/>
              <a:gd name="connsiteY10" fmla="*/ 496740 h 506277"/>
              <a:gd name="connsiteX11" fmla="*/ 797001 w 1038036"/>
              <a:gd name="connsiteY11" fmla="*/ 501508 h 506277"/>
              <a:gd name="connsiteX12" fmla="*/ 782744 w 1038036"/>
              <a:gd name="connsiteY12" fmla="*/ 506277 h 506277"/>
              <a:gd name="connsiteX13" fmla="*/ 692049 w 1038036"/>
              <a:gd name="connsiteY13" fmla="*/ 506277 h 506277"/>
              <a:gd name="connsiteX14" fmla="*/ 291705 w 1038036"/>
              <a:gd name="connsiteY14" fmla="*/ 505140 h 506277"/>
              <a:gd name="connsiteX15" fmla="*/ 291705 w 1038036"/>
              <a:gd name="connsiteY15" fmla="*/ 506277 h 506277"/>
              <a:gd name="connsiteX16" fmla="*/ 0 w 1038036"/>
              <a:gd name="connsiteY16" fmla="*/ 506277 h 50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38036" h="506277">
                <a:moveTo>
                  <a:pt x="0" y="0"/>
                </a:moveTo>
                <a:lnTo>
                  <a:pt x="182880" y="0"/>
                </a:lnTo>
                <a:lnTo>
                  <a:pt x="291705" y="0"/>
                </a:lnTo>
                <a:lnTo>
                  <a:pt x="291705" y="151"/>
                </a:lnTo>
                <a:lnTo>
                  <a:pt x="692049" y="705"/>
                </a:lnTo>
                <a:lnTo>
                  <a:pt x="782744" y="705"/>
                </a:lnTo>
                <a:cubicBezTo>
                  <a:pt x="787553" y="705"/>
                  <a:pt x="792363" y="5473"/>
                  <a:pt x="797001" y="5473"/>
                </a:cubicBezTo>
                <a:cubicBezTo>
                  <a:pt x="797001" y="10242"/>
                  <a:pt x="801982" y="10242"/>
                  <a:pt x="801982" y="10242"/>
                </a:cubicBezTo>
                <a:lnTo>
                  <a:pt x="1030951" y="239185"/>
                </a:lnTo>
                <a:cubicBezTo>
                  <a:pt x="1040398" y="248722"/>
                  <a:pt x="1040398" y="258259"/>
                  <a:pt x="1030951" y="267797"/>
                </a:cubicBezTo>
                <a:lnTo>
                  <a:pt x="801982" y="496740"/>
                </a:lnTo>
                <a:cubicBezTo>
                  <a:pt x="800436" y="498363"/>
                  <a:pt x="798547" y="499885"/>
                  <a:pt x="797001" y="501508"/>
                </a:cubicBezTo>
                <a:cubicBezTo>
                  <a:pt x="792363" y="506277"/>
                  <a:pt x="787553" y="506277"/>
                  <a:pt x="782744" y="506277"/>
                </a:cubicBezTo>
                <a:lnTo>
                  <a:pt x="692049" y="506277"/>
                </a:lnTo>
                <a:lnTo>
                  <a:pt x="291705" y="505140"/>
                </a:lnTo>
                <a:lnTo>
                  <a:pt x="291705" y="506277"/>
                </a:lnTo>
                <a:lnTo>
                  <a:pt x="0" y="50627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2679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63516C8-F227-4B77-9AA7-61B9A0B782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4D91F5-C441-93B9-7D64-DE12517B6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3979877"/>
            <a:ext cx="8911687" cy="778589"/>
          </a:xfrm>
        </p:spPr>
        <p:txBody>
          <a:bodyPr anchor="b">
            <a:normAutofit/>
          </a:bodyPr>
          <a:lstStyle/>
          <a:p>
            <a:r>
              <a:rPr lang="en-US" sz="2800" b="1"/>
              <a:t>Kateqoriyalar üzrə müqayisə</a:t>
            </a:r>
            <a:endParaRPr lang="en-US" sz="28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91B420C-C4C8-44DF-96B2-FBD1014646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5" name="Picture 4" descr="A screenshot of a calculator&#10;&#10;AI-generated content may be incorrect.">
            <a:extLst>
              <a:ext uri="{FF2B5EF4-FFF2-40B4-BE49-F238E27FC236}">
                <a16:creationId xmlns:a16="http://schemas.microsoft.com/office/drawing/2014/main" id="{FFE6ED31-49B4-E2CD-45F9-FF6FF354A9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0799" y="852510"/>
            <a:ext cx="8923813" cy="2744073"/>
          </a:xfrm>
          <a:prstGeom prst="rect">
            <a:avLst/>
          </a:prstGeom>
        </p:spPr>
      </p:pic>
      <p:sp>
        <p:nvSpPr>
          <p:cNvPr id="14" name="Freeform 33">
            <a:extLst>
              <a:ext uri="{FF2B5EF4-FFF2-40B4-BE49-F238E27FC236}">
                <a16:creationId xmlns:a16="http://schemas.microsoft.com/office/drawing/2014/main" id="{070928B1-3E69-44AC-A1EE-B4E4270A7A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4369172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CA1D42-8A72-B1FF-4D6A-252B03E9C0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4845585"/>
            <a:ext cx="8915400" cy="1280890"/>
          </a:xfrm>
        </p:spPr>
        <p:txBody>
          <a:bodyPr>
            <a:normAutofit/>
          </a:bodyPr>
          <a:lstStyle/>
          <a:p>
            <a:r>
              <a:rPr lang="en-US"/>
              <a:t>Orta seqmentlərdə (1.25–2 AZN) uyğunluq yüksəkdir.</a:t>
            </a:r>
          </a:p>
          <a:p>
            <a:r>
              <a:rPr lang="en-US"/>
              <a:t>Aşağı seqmentlərdə model fərqlənir.</a:t>
            </a:r>
          </a:p>
          <a:p>
            <a:r>
              <a:rPr lang="en-US"/>
              <a:t>Yüksək seqmentlərdə proqnoz daha ehtiyatlıdır.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92444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3F4C104D-5F30-4811-9376-566B26E471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DAB058-FC01-296A-38BA-34520BAC3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645106"/>
            <a:ext cx="3650279" cy="1259894"/>
          </a:xfrm>
        </p:spPr>
        <p:txBody>
          <a:bodyPr>
            <a:normAutofit/>
          </a:bodyPr>
          <a:lstStyle/>
          <a:p>
            <a:r>
              <a:rPr lang="en-US"/>
              <a:t>Total Sales və Profit əlaqəsi</a:t>
            </a:r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815E34B-5D02-4E01-A936-E8E1C0AB6F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B81636-D8F9-71B5-D8A8-29D1E7B536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5" y="2133600"/>
            <a:ext cx="3650278" cy="3759253"/>
          </a:xfrm>
        </p:spPr>
        <p:txBody>
          <a:bodyPr>
            <a:normAutofit/>
          </a:bodyPr>
          <a:lstStyle/>
          <a:p>
            <a:r>
              <a:rPr lang="en-US" dirty="0" err="1"/>
              <a:t>Korrelyasiya</a:t>
            </a:r>
            <a:r>
              <a:rPr lang="en-US" dirty="0"/>
              <a:t> = </a:t>
            </a:r>
            <a:r>
              <a:rPr lang="en-US" b="1" dirty="0"/>
              <a:t>0.85</a:t>
            </a:r>
            <a:r>
              <a:rPr lang="en-US" dirty="0"/>
              <a:t> → </a:t>
            </a:r>
            <a:r>
              <a:rPr lang="en-US" dirty="0" err="1"/>
              <a:t>güclü</a:t>
            </a:r>
            <a:r>
              <a:rPr lang="en-US" dirty="0"/>
              <a:t> </a:t>
            </a:r>
            <a:r>
              <a:rPr lang="en-US" dirty="0" err="1"/>
              <a:t>müsbət</a:t>
            </a:r>
            <a:r>
              <a:rPr lang="en-US" dirty="0"/>
              <a:t> </a:t>
            </a:r>
            <a:r>
              <a:rPr lang="en-US" dirty="0" err="1"/>
              <a:t>əlaqə</a:t>
            </a:r>
            <a:r>
              <a:rPr lang="en-US" dirty="0"/>
              <a:t>.</a:t>
            </a:r>
          </a:p>
          <a:p>
            <a:r>
              <a:rPr lang="en-US" dirty="0" err="1"/>
              <a:t>Qrafikdə</a:t>
            </a:r>
            <a:r>
              <a:rPr lang="en-US" dirty="0"/>
              <a:t> </a:t>
            </a:r>
            <a:r>
              <a:rPr lang="en-US" dirty="0" err="1"/>
              <a:t>xətti</a:t>
            </a:r>
            <a:r>
              <a:rPr lang="en-US" dirty="0"/>
              <a:t> trend </a:t>
            </a:r>
            <a:r>
              <a:rPr lang="en-US" dirty="0" err="1"/>
              <a:t>aydın</a:t>
            </a:r>
            <a:r>
              <a:rPr lang="en-US" dirty="0"/>
              <a:t> </a:t>
            </a:r>
            <a:r>
              <a:rPr lang="en-US" dirty="0" err="1"/>
              <a:t>görünür</a:t>
            </a:r>
            <a:r>
              <a:rPr lang="en-US" dirty="0"/>
              <a:t>.</a:t>
            </a:r>
          </a:p>
          <a:p>
            <a:r>
              <a:rPr lang="en-US" dirty="0" err="1"/>
              <a:t>Satış</a:t>
            </a:r>
            <a:r>
              <a:rPr lang="en-US" dirty="0"/>
              <a:t> </a:t>
            </a:r>
            <a:r>
              <a:rPr lang="en-US" dirty="0" err="1"/>
              <a:t>həcmi</a:t>
            </a:r>
            <a:r>
              <a:rPr lang="en-US" dirty="0"/>
              <a:t> </a:t>
            </a:r>
            <a:r>
              <a:rPr lang="en-US" dirty="0" err="1"/>
              <a:t>artdıqca</a:t>
            </a:r>
            <a:r>
              <a:rPr lang="en-US" dirty="0"/>
              <a:t> </a:t>
            </a:r>
            <a:r>
              <a:rPr lang="en-US" dirty="0" err="1"/>
              <a:t>mənfəət</a:t>
            </a:r>
            <a:r>
              <a:rPr lang="en-US" dirty="0"/>
              <a:t> </a:t>
            </a:r>
            <a:r>
              <a:rPr lang="en-US" dirty="0" err="1"/>
              <a:t>də</a:t>
            </a:r>
            <a:r>
              <a:rPr lang="en-US" dirty="0"/>
              <a:t> </a:t>
            </a:r>
            <a:r>
              <a:rPr lang="en-US" dirty="0" err="1"/>
              <a:t>eyni</a:t>
            </a:r>
            <a:r>
              <a:rPr lang="en-US" dirty="0"/>
              <a:t> </a:t>
            </a:r>
            <a:r>
              <a:rPr lang="en-US" dirty="0" err="1"/>
              <a:t>istiqamətdə</a:t>
            </a:r>
            <a:r>
              <a:rPr lang="en-US" dirty="0"/>
              <a:t> </a:t>
            </a:r>
            <a:r>
              <a:rPr lang="en-US" dirty="0" err="1"/>
              <a:t>artır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pic>
        <p:nvPicPr>
          <p:cNvPr id="5" name="Picture 4" descr="A graph with a red line and blue dots&#10;&#10;AI-generated content may be incorrect.">
            <a:extLst>
              <a:ext uri="{FF2B5EF4-FFF2-40B4-BE49-F238E27FC236}">
                <a16:creationId xmlns:a16="http://schemas.microsoft.com/office/drawing/2014/main" id="{03A83BA0-E55F-325A-B974-8F21345346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9543" y="841407"/>
            <a:ext cx="6953577" cy="4850119"/>
          </a:xfrm>
          <a:prstGeom prst="rect">
            <a:avLst/>
          </a:prstGeom>
        </p:spPr>
      </p:pic>
      <p:sp>
        <p:nvSpPr>
          <p:cNvPr id="18" name="Freeform 11">
            <a:extLst>
              <a:ext uri="{FF2B5EF4-FFF2-40B4-BE49-F238E27FC236}">
                <a16:creationId xmlns:a16="http://schemas.microsoft.com/office/drawing/2014/main" id="{7DE3414B-B032-4710-A468-D3285E38C5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6061223"/>
            <a:ext cx="1038036" cy="506277"/>
          </a:xfrm>
          <a:custGeom>
            <a:avLst/>
            <a:gdLst>
              <a:gd name="connsiteX0" fmla="*/ 0 w 1038036"/>
              <a:gd name="connsiteY0" fmla="*/ 0 h 506277"/>
              <a:gd name="connsiteX1" fmla="*/ 182880 w 1038036"/>
              <a:gd name="connsiteY1" fmla="*/ 0 h 506277"/>
              <a:gd name="connsiteX2" fmla="*/ 291705 w 1038036"/>
              <a:gd name="connsiteY2" fmla="*/ 0 h 506277"/>
              <a:gd name="connsiteX3" fmla="*/ 291705 w 1038036"/>
              <a:gd name="connsiteY3" fmla="*/ 151 h 506277"/>
              <a:gd name="connsiteX4" fmla="*/ 692049 w 1038036"/>
              <a:gd name="connsiteY4" fmla="*/ 705 h 506277"/>
              <a:gd name="connsiteX5" fmla="*/ 782744 w 1038036"/>
              <a:gd name="connsiteY5" fmla="*/ 705 h 506277"/>
              <a:gd name="connsiteX6" fmla="*/ 797001 w 1038036"/>
              <a:gd name="connsiteY6" fmla="*/ 5473 h 506277"/>
              <a:gd name="connsiteX7" fmla="*/ 801982 w 1038036"/>
              <a:gd name="connsiteY7" fmla="*/ 10242 h 506277"/>
              <a:gd name="connsiteX8" fmla="*/ 1030951 w 1038036"/>
              <a:gd name="connsiteY8" fmla="*/ 239185 h 506277"/>
              <a:gd name="connsiteX9" fmla="*/ 1030951 w 1038036"/>
              <a:gd name="connsiteY9" fmla="*/ 267797 h 506277"/>
              <a:gd name="connsiteX10" fmla="*/ 801982 w 1038036"/>
              <a:gd name="connsiteY10" fmla="*/ 496740 h 506277"/>
              <a:gd name="connsiteX11" fmla="*/ 797001 w 1038036"/>
              <a:gd name="connsiteY11" fmla="*/ 501508 h 506277"/>
              <a:gd name="connsiteX12" fmla="*/ 782744 w 1038036"/>
              <a:gd name="connsiteY12" fmla="*/ 506277 h 506277"/>
              <a:gd name="connsiteX13" fmla="*/ 692049 w 1038036"/>
              <a:gd name="connsiteY13" fmla="*/ 506277 h 506277"/>
              <a:gd name="connsiteX14" fmla="*/ 291705 w 1038036"/>
              <a:gd name="connsiteY14" fmla="*/ 505140 h 506277"/>
              <a:gd name="connsiteX15" fmla="*/ 291705 w 1038036"/>
              <a:gd name="connsiteY15" fmla="*/ 506277 h 506277"/>
              <a:gd name="connsiteX16" fmla="*/ 0 w 1038036"/>
              <a:gd name="connsiteY16" fmla="*/ 506277 h 50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38036" h="506277">
                <a:moveTo>
                  <a:pt x="0" y="0"/>
                </a:moveTo>
                <a:lnTo>
                  <a:pt x="182880" y="0"/>
                </a:lnTo>
                <a:lnTo>
                  <a:pt x="291705" y="0"/>
                </a:lnTo>
                <a:lnTo>
                  <a:pt x="291705" y="151"/>
                </a:lnTo>
                <a:lnTo>
                  <a:pt x="692049" y="705"/>
                </a:lnTo>
                <a:lnTo>
                  <a:pt x="782744" y="705"/>
                </a:lnTo>
                <a:cubicBezTo>
                  <a:pt x="787553" y="705"/>
                  <a:pt x="792363" y="5473"/>
                  <a:pt x="797001" y="5473"/>
                </a:cubicBezTo>
                <a:cubicBezTo>
                  <a:pt x="797001" y="10242"/>
                  <a:pt x="801982" y="10242"/>
                  <a:pt x="801982" y="10242"/>
                </a:cubicBezTo>
                <a:lnTo>
                  <a:pt x="1030951" y="239185"/>
                </a:lnTo>
                <a:cubicBezTo>
                  <a:pt x="1040398" y="248722"/>
                  <a:pt x="1040398" y="258259"/>
                  <a:pt x="1030951" y="267797"/>
                </a:cubicBezTo>
                <a:lnTo>
                  <a:pt x="801982" y="496740"/>
                </a:lnTo>
                <a:cubicBezTo>
                  <a:pt x="800436" y="498363"/>
                  <a:pt x="798547" y="499885"/>
                  <a:pt x="797001" y="501508"/>
                </a:cubicBezTo>
                <a:cubicBezTo>
                  <a:pt x="792363" y="506277"/>
                  <a:pt x="787553" y="506277"/>
                  <a:pt x="782744" y="506277"/>
                </a:cubicBezTo>
                <a:lnTo>
                  <a:pt x="692049" y="506277"/>
                </a:lnTo>
                <a:lnTo>
                  <a:pt x="291705" y="505140"/>
                </a:lnTo>
                <a:lnTo>
                  <a:pt x="291705" y="506277"/>
                </a:lnTo>
                <a:lnTo>
                  <a:pt x="0" y="50627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6324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9FE08D8-CEA0-461E-870A-02CD15D9B9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059079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BCBAF5-D689-F5F8-B889-88D51048F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893" y="3101093"/>
            <a:ext cx="2454052" cy="3029344"/>
          </a:xfrm>
        </p:spPr>
        <p:txBody>
          <a:bodyPr>
            <a:normAutofit/>
          </a:bodyPr>
          <a:lstStyle/>
          <a:p>
            <a:r>
              <a:rPr lang="en-US" sz="3200">
                <a:solidFill>
                  <a:schemeClr val="bg1"/>
                </a:solidFill>
              </a:rPr>
              <a:t>Xülasə</a:t>
            </a:r>
          </a:p>
        </p:txBody>
      </p:sp>
      <p:sp>
        <p:nvSpPr>
          <p:cNvPr id="10" name="Freeform 11">
            <a:extLst>
              <a:ext uri="{FF2B5EF4-FFF2-40B4-BE49-F238E27FC236}">
                <a16:creationId xmlns:a16="http://schemas.microsoft.com/office/drawing/2014/main" id="{2B982904-A46E-41DF-BA98-61E2300C7D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59" y="3179901"/>
            <a:ext cx="1098194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7018161-547E-48F7-A0D9-272C9EA5B3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95736" y="0"/>
            <a:ext cx="739626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0BF0B4-FB69-EF6A-B44C-4309C82798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06578" y="589722"/>
            <a:ext cx="6798033" cy="5321500"/>
          </a:xfrm>
        </p:spPr>
        <p:txBody>
          <a:bodyPr anchor="ctr">
            <a:normAutofit/>
          </a:bodyPr>
          <a:lstStyle/>
          <a:p>
            <a:r>
              <a:rPr lang="en-US" dirty="0" err="1"/>
              <a:t>Satışların</a:t>
            </a:r>
            <a:r>
              <a:rPr lang="en-US" dirty="0"/>
              <a:t> </a:t>
            </a:r>
            <a:r>
              <a:rPr lang="en-US" dirty="0" err="1"/>
              <a:t>böyük</a:t>
            </a:r>
            <a:r>
              <a:rPr lang="en-US" dirty="0"/>
              <a:t> </a:t>
            </a:r>
            <a:r>
              <a:rPr lang="en-US" dirty="0" err="1"/>
              <a:t>hissəsi</a:t>
            </a:r>
            <a:r>
              <a:rPr lang="en-US" dirty="0"/>
              <a:t> </a:t>
            </a:r>
            <a:r>
              <a:rPr lang="en-US" dirty="0" err="1"/>
              <a:t>kiçik</a:t>
            </a:r>
            <a:r>
              <a:rPr lang="en-US" dirty="0"/>
              <a:t> </a:t>
            </a:r>
            <a:r>
              <a:rPr lang="en-US" dirty="0" err="1"/>
              <a:t>əməliyyatlardan</a:t>
            </a:r>
            <a:r>
              <a:rPr lang="en-US" dirty="0"/>
              <a:t> </a:t>
            </a:r>
            <a:r>
              <a:rPr lang="en-US" dirty="0" err="1"/>
              <a:t>formalaşır</a:t>
            </a:r>
            <a:r>
              <a:rPr lang="en-US" dirty="0"/>
              <a:t>, </a:t>
            </a:r>
            <a:r>
              <a:rPr lang="en-US" dirty="0" err="1"/>
              <a:t>lakin</a:t>
            </a:r>
            <a:r>
              <a:rPr lang="en-US" dirty="0"/>
              <a:t> </a:t>
            </a:r>
            <a:r>
              <a:rPr lang="en-US" dirty="0" err="1"/>
              <a:t>iri</a:t>
            </a:r>
            <a:r>
              <a:rPr lang="en-US" dirty="0"/>
              <a:t> </a:t>
            </a:r>
            <a:r>
              <a:rPr lang="en-US" dirty="0" err="1"/>
              <a:t>əməliyyatlar</a:t>
            </a:r>
            <a:r>
              <a:rPr lang="en-US" dirty="0"/>
              <a:t> </a:t>
            </a:r>
            <a:r>
              <a:rPr lang="en-US" dirty="0" err="1"/>
              <a:t>nəticələri</a:t>
            </a:r>
            <a:r>
              <a:rPr lang="en-US" dirty="0"/>
              <a:t> </a:t>
            </a:r>
            <a:r>
              <a:rPr lang="en-US" dirty="0" err="1"/>
              <a:t>kəskin</a:t>
            </a:r>
            <a:r>
              <a:rPr lang="en-US" dirty="0"/>
              <a:t> </a:t>
            </a:r>
            <a:r>
              <a:rPr lang="en-US" dirty="0" err="1"/>
              <a:t>dəyişir</a:t>
            </a:r>
            <a:r>
              <a:rPr lang="en-US" dirty="0"/>
              <a:t>.</a:t>
            </a:r>
          </a:p>
          <a:p>
            <a:r>
              <a:rPr lang="en-US" dirty="0" err="1"/>
              <a:t>Mənfəət</a:t>
            </a:r>
            <a:r>
              <a:rPr lang="en-US" dirty="0"/>
              <a:t> </a:t>
            </a:r>
            <a:r>
              <a:rPr lang="en-US" dirty="0" err="1"/>
              <a:t>əsasən</a:t>
            </a:r>
            <a:r>
              <a:rPr lang="en-US" dirty="0"/>
              <a:t> </a:t>
            </a:r>
            <a:r>
              <a:rPr lang="en-US" dirty="0" err="1"/>
              <a:t>sabit</a:t>
            </a:r>
            <a:r>
              <a:rPr lang="en-US" dirty="0"/>
              <a:t> </a:t>
            </a:r>
            <a:r>
              <a:rPr lang="en-US" dirty="0" err="1"/>
              <a:t>diapazonda</a:t>
            </a:r>
            <a:r>
              <a:rPr lang="en-US" dirty="0"/>
              <a:t> </a:t>
            </a:r>
            <a:r>
              <a:rPr lang="en-US" dirty="0" err="1"/>
              <a:t>olsa</a:t>
            </a:r>
            <a:r>
              <a:rPr lang="en-US" dirty="0"/>
              <a:t> da, </a:t>
            </a:r>
            <a:r>
              <a:rPr lang="en-US" dirty="0" err="1"/>
              <a:t>bəzi</a:t>
            </a:r>
            <a:r>
              <a:rPr lang="en-US" dirty="0"/>
              <a:t> </a:t>
            </a:r>
            <a:r>
              <a:rPr lang="en-US" dirty="0" err="1"/>
              <a:t>zərərli</a:t>
            </a:r>
            <a:r>
              <a:rPr lang="en-US" dirty="0"/>
              <a:t> </a:t>
            </a:r>
            <a:r>
              <a:rPr lang="en-US" dirty="0" err="1"/>
              <a:t>əməliyyatlar</a:t>
            </a:r>
            <a:r>
              <a:rPr lang="en-US" dirty="0"/>
              <a:t> </a:t>
            </a:r>
            <a:r>
              <a:rPr lang="en-US" dirty="0" err="1"/>
              <a:t>mövcuddur</a:t>
            </a:r>
            <a:r>
              <a:rPr lang="en-US" dirty="0"/>
              <a:t>.</a:t>
            </a:r>
          </a:p>
          <a:p>
            <a:r>
              <a:rPr lang="en-US" dirty="0" err="1"/>
              <a:t>Anomaliya</a:t>
            </a:r>
            <a:r>
              <a:rPr lang="en-US" dirty="0"/>
              <a:t> </a:t>
            </a:r>
            <a:r>
              <a:rPr lang="en-US" dirty="0" err="1"/>
              <a:t>təhlili</a:t>
            </a:r>
            <a:r>
              <a:rPr lang="en-US" dirty="0"/>
              <a:t> </a:t>
            </a:r>
            <a:r>
              <a:rPr lang="en-US" dirty="0" err="1"/>
              <a:t>göstərdi</a:t>
            </a:r>
            <a:r>
              <a:rPr lang="en-US" dirty="0"/>
              <a:t> ki, </a:t>
            </a:r>
            <a:r>
              <a:rPr lang="en-US" dirty="0" err="1"/>
              <a:t>cümə</a:t>
            </a:r>
            <a:r>
              <a:rPr lang="en-US" dirty="0"/>
              <a:t> </a:t>
            </a:r>
            <a:r>
              <a:rPr lang="en-US" dirty="0" err="1"/>
              <a:t>günləri</a:t>
            </a:r>
            <a:r>
              <a:rPr lang="en-US" dirty="0"/>
              <a:t> </a:t>
            </a:r>
            <a:r>
              <a:rPr lang="en-US" dirty="0" err="1"/>
              <a:t>satış</a:t>
            </a:r>
            <a:r>
              <a:rPr lang="en-US" dirty="0"/>
              <a:t> </a:t>
            </a:r>
            <a:r>
              <a:rPr lang="en-US" dirty="0" err="1"/>
              <a:t>və</a:t>
            </a:r>
            <a:r>
              <a:rPr lang="en-US" dirty="0"/>
              <a:t> </a:t>
            </a:r>
            <a:r>
              <a:rPr lang="en-US" dirty="0" err="1"/>
              <a:t>mənfəət</a:t>
            </a:r>
            <a:r>
              <a:rPr lang="en-US" dirty="0"/>
              <a:t> </a:t>
            </a:r>
            <a:r>
              <a:rPr lang="en-US" dirty="0" err="1"/>
              <a:t>digərlərindən</a:t>
            </a:r>
            <a:r>
              <a:rPr lang="en-US" dirty="0"/>
              <a:t> </a:t>
            </a:r>
            <a:r>
              <a:rPr lang="en-US" dirty="0" err="1"/>
              <a:t>xeyli</a:t>
            </a:r>
            <a:r>
              <a:rPr lang="en-US" dirty="0"/>
              <a:t> </a:t>
            </a:r>
            <a:r>
              <a:rPr lang="en-US" dirty="0" err="1"/>
              <a:t>yüksəkdir</a:t>
            </a:r>
            <a:r>
              <a:rPr lang="en-US" dirty="0"/>
              <a:t>.</a:t>
            </a:r>
          </a:p>
          <a:p>
            <a:r>
              <a:rPr lang="en-US" dirty="0"/>
              <a:t>19 </a:t>
            </a:r>
            <a:r>
              <a:rPr lang="en-US" dirty="0" err="1"/>
              <a:t>aprel</a:t>
            </a:r>
            <a:r>
              <a:rPr lang="en-US" dirty="0"/>
              <a:t> </a:t>
            </a:r>
            <a:r>
              <a:rPr lang="en-US" dirty="0" err="1"/>
              <a:t>tarixindəki</a:t>
            </a:r>
            <a:r>
              <a:rPr lang="en-US" dirty="0"/>
              <a:t> </a:t>
            </a:r>
            <a:r>
              <a:rPr lang="en-US" dirty="0" err="1"/>
              <a:t>kəskin</a:t>
            </a:r>
            <a:r>
              <a:rPr lang="en-US" dirty="0"/>
              <a:t> </a:t>
            </a:r>
            <a:r>
              <a:rPr lang="en-US" dirty="0" err="1"/>
              <a:t>sıçrayış</a:t>
            </a:r>
            <a:r>
              <a:rPr lang="en-US" dirty="0"/>
              <a:t> </a:t>
            </a:r>
            <a:r>
              <a:rPr lang="en-US" dirty="0" err="1"/>
              <a:t>məlumatların</a:t>
            </a:r>
            <a:r>
              <a:rPr lang="en-US" dirty="0"/>
              <a:t> </a:t>
            </a:r>
            <a:r>
              <a:rPr lang="en-US" dirty="0" err="1"/>
              <a:t>toplanma</a:t>
            </a:r>
            <a:r>
              <a:rPr lang="en-US" dirty="0"/>
              <a:t> </a:t>
            </a:r>
            <a:r>
              <a:rPr lang="en-US" dirty="0" err="1"/>
              <a:t>metodundan</a:t>
            </a:r>
            <a:r>
              <a:rPr lang="en-US" dirty="0"/>
              <a:t> </a:t>
            </a:r>
            <a:r>
              <a:rPr lang="en-US" dirty="0" err="1"/>
              <a:t>irəli</a:t>
            </a:r>
            <a:r>
              <a:rPr lang="en-US" dirty="0"/>
              <a:t> </a:t>
            </a:r>
            <a:r>
              <a:rPr lang="en-US" dirty="0" err="1"/>
              <a:t>gələn</a:t>
            </a:r>
            <a:r>
              <a:rPr lang="en-US" dirty="0"/>
              <a:t> </a:t>
            </a:r>
            <a:r>
              <a:rPr lang="en-US" dirty="0" err="1"/>
              <a:t>texniki</a:t>
            </a:r>
            <a:r>
              <a:rPr lang="en-US" dirty="0"/>
              <a:t> </a:t>
            </a:r>
            <a:r>
              <a:rPr lang="en-US" dirty="0" err="1"/>
              <a:t>anomaliyadır</a:t>
            </a:r>
            <a:r>
              <a:rPr lang="en-US" dirty="0"/>
              <a:t>.</a:t>
            </a:r>
          </a:p>
          <a:p>
            <a:r>
              <a:rPr lang="en-US" dirty="0"/>
              <a:t>POS </a:t>
            </a:r>
            <a:r>
              <a:rPr lang="en-US" dirty="0" err="1"/>
              <a:t>üzrə</a:t>
            </a:r>
            <a:r>
              <a:rPr lang="en-US" dirty="0"/>
              <a:t> BRAVO </a:t>
            </a:r>
            <a:r>
              <a:rPr lang="en-US" dirty="0" err="1"/>
              <a:t>açıq</a:t>
            </a:r>
            <a:r>
              <a:rPr lang="en-US" dirty="0"/>
              <a:t> </a:t>
            </a:r>
            <a:r>
              <a:rPr lang="en-US" dirty="0" err="1"/>
              <a:t>şəkildə</a:t>
            </a:r>
            <a:r>
              <a:rPr lang="en-US" dirty="0"/>
              <a:t> </a:t>
            </a:r>
            <a:r>
              <a:rPr lang="en-US" dirty="0" err="1"/>
              <a:t>lider</a:t>
            </a:r>
            <a:r>
              <a:rPr lang="en-US" dirty="0"/>
              <a:t> </a:t>
            </a:r>
            <a:r>
              <a:rPr lang="en-US" dirty="0" err="1"/>
              <a:t>mövqedədir</a:t>
            </a:r>
            <a:r>
              <a:rPr lang="en-US" dirty="0"/>
              <a:t>.</a:t>
            </a:r>
          </a:p>
          <a:p>
            <a:r>
              <a:rPr lang="en-US" dirty="0" err="1"/>
              <a:t>Qurulan</a:t>
            </a:r>
            <a:r>
              <a:rPr lang="en-US" dirty="0"/>
              <a:t> </a:t>
            </a:r>
            <a:r>
              <a:rPr lang="en-US" dirty="0" err="1"/>
              <a:t>reqressiya</a:t>
            </a:r>
            <a:r>
              <a:rPr lang="en-US" dirty="0"/>
              <a:t> </a:t>
            </a:r>
            <a:r>
              <a:rPr lang="en-US" dirty="0" err="1"/>
              <a:t>modeli</a:t>
            </a:r>
            <a:r>
              <a:rPr lang="en-US" dirty="0"/>
              <a:t> </a:t>
            </a:r>
            <a:r>
              <a:rPr lang="en-US" dirty="0" err="1"/>
              <a:t>mənfəəti</a:t>
            </a:r>
            <a:r>
              <a:rPr lang="en-US" dirty="0"/>
              <a:t> </a:t>
            </a:r>
            <a:r>
              <a:rPr lang="en-US" dirty="0" err="1"/>
              <a:t>əsasən</a:t>
            </a:r>
            <a:r>
              <a:rPr lang="en-US" dirty="0"/>
              <a:t> </a:t>
            </a:r>
            <a:r>
              <a:rPr lang="en-US" dirty="0" err="1"/>
              <a:t>satış</a:t>
            </a:r>
            <a:r>
              <a:rPr lang="en-US" dirty="0"/>
              <a:t> </a:t>
            </a:r>
            <a:r>
              <a:rPr lang="en-US" dirty="0" err="1"/>
              <a:t>həcmi</a:t>
            </a:r>
            <a:r>
              <a:rPr lang="en-US" dirty="0"/>
              <a:t> </a:t>
            </a:r>
            <a:r>
              <a:rPr lang="en-US" dirty="0" err="1"/>
              <a:t>və</a:t>
            </a:r>
            <a:r>
              <a:rPr lang="en-US" dirty="0"/>
              <a:t> </a:t>
            </a:r>
            <a:r>
              <a:rPr lang="en-US" dirty="0" err="1"/>
              <a:t>marja</a:t>
            </a:r>
            <a:r>
              <a:rPr lang="en-US" dirty="0"/>
              <a:t> </a:t>
            </a:r>
            <a:r>
              <a:rPr lang="en-US" dirty="0" err="1"/>
              <a:t>ilə</a:t>
            </a:r>
            <a:r>
              <a:rPr lang="en-US" dirty="0"/>
              <a:t> </a:t>
            </a:r>
            <a:r>
              <a:rPr lang="en-US" dirty="0" err="1"/>
              <a:t>izah</a:t>
            </a:r>
            <a:r>
              <a:rPr lang="en-US" dirty="0"/>
              <a:t> </a:t>
            </a:r>
            <a:r>
              <a:rPr lang="en-US" dirty="0" err="1"/>
              <a:t>edir</a:t>
            </a:r>
            <a:r>
              <a:rPr lang="en-US" dirty="0"/>
              <a:t> (R² ≈ 0.80).</a:t>
            </a:r>
          </a:p>
          <a:p>
            <a:r>
              <a:rPr lang="en-US" dirty="0" err="1"/>
              <a:t>Satış</a:t>
            </a:r>
            <a:r>
              <a:rPr lang="en-US" dirty="0"/>
              <a:t> </a:t>
            </a:r>
            <a:r>
              <a:rPr lang="en-US" dirty="0" err="1"/>
              <a:t>və</a:t>
            </a:r>
            <a:r>
              <a:rPr lang="en-US" dirty="0"/>
              <a:t> </a:t>
            </a:r>
            <a:r>
              <a:rPr lang="en-US" dirty="0" err="1"/>
              <a:t>mənfəət</a:t>
            </a:r>
            <a:r>
              <a:rPr lang="en-US" dirty="0"/>
              <a:t> </a:t>
            </a:r>
            <a:r>
              <a:rPr lang="en-US" dirty="0" err="1"/>
              <a:t>arasında</a:t>
            </a:r>
            <a:r>
              <a:rPr lang="en-US" dirty="0"/>
              <a:t> </a:t>
            </a:r>
            <a:r>
              <a:rPr lang="en-US" dirty="0" err="1"/>
              <a:t>güclü</a:t>
            </a:r>
            <a:r>
              <a:rPr lang="en-US" dirty="0"/>
              <a:t> </a:t>
            </a:r>
            <a:r>
              <a:rPr lang="en-US" dirty="0" err="1"/>
              <a:t>müsbət</a:t>
            </a:r>
            <a:r>
              <a:rPr lang="en-US" dirty="0"/>
              <a:t> </a:t>
            </a:r>
            <a:r>
              <a:rPr lang="en-US" dirty="0" err="1"/>
              <a:t>korrelyasiya</a:t>
            </a:r>
            <a:r>
              <a:rPr lang="en-US" dirty="0"/>
              <a:t> </a:t>
            </a:r>
            <a:r>
              <a:rPr lang="en-US" dirty="0" err="1"/>
              <a:t>mövcuddur</a:t>
            </a:r>
            <a:r>
              <a:rPr lang="en-US" dirty="0"/>
              <a:t> (r = 0.85).</a:t>
            </a:r>
          </a:p>
          <a:p>
            <a:r>
              <a:rPr lang="en-US" dirty="0" err="1"/>
              <a:t>Proqnozların</a:t>
            </a:r>
            <a:r>
              <a:rPr lang="en-US" dirty="0"/>
              <a:t> </a:t>
            </a:r>
            <a:r>
              <a:rPr lang="en-US" dirty="0" err="1"/>
              <a:t>etibarlılığı</a:t>
            </a:r>
            <a:r>
              <a:rPr lang="en-US" dirty="0"/>
              <a:t> </a:t>
            </a:r>
            <a:r>
              <a:rPr lang="en-US" dirty="0" err="1"/>
              <a:t>üçün</a:t>
            </a:r>
            <a:r>
              <a:rPr lang="en-US" dirty="0"/>
              <a:t> </a:t>
            </a:r>
            <a:r>
              <a:rPr lang="en-US" dirty="0" err="1"/>
              <a:t>düzgün</a:t>
            </a:r>
            <a:r>
              <a:rPr lang="en-US" dirty="0"/>
              <a:t> </a:t>
            </a:r>
            <a:r>
              <a:rPr lang="en-US" dirty="0" err="1"/>
              <a:t>məlumat</a:t>
            </a:r>
            <a:r>
              <a:rPr lang="en-US" dirty="0"/>
              <a:t> </a:t>
            </a:r>
            <a:r>
              <a:rPr lang="en-US" dirty="0" err="1"/>
              <a:t>təmizliyi</a:t>
            </a:r>
            <a:r>
              <a:rPr lang="en-US" dirty="0"/>
              <a:t> </a:t>
            </a:r>
            <a:r>
              <a:rPr lang="en-US" dirty="0" err="1"/>
              <a:t>və</a:t>
            </a:r>
            <a:r>
              <a:rPr lang="en-US" dirty="0"/>
              <a:t> </a:t>
            </a:r>
            <a:r>
              <a:rPr lang="en-US" dirty="0" err="1"/>
              <a:t>anomaliya</a:t>
            </a:r>
            <a:r>
              <a:rPr lang="en-US" dirty="0"/>
              <a:t> </a:t>
            </a:r>
            <a:r>
              <a:rPr lang="en-US" dirty="0" err="1"/>
              <a:t>analizi</a:t>
            </a:r>
            <a:r>
              <a:rPr lang="en-US" dirty="0"/>
              <a:t> </a:t>
            </a:r>
            <a:r>
              <a:rPr lang="en-US" dirty="0" err="1"/>
              <a:t>əsas</a:t>
            </a:r>
            <a:r>
              <a:rPr lang="en-US" dirty="0"/>
              <a:t> </a:t>
            </a:r>
            <a:r>
              <a:rPr lang="en-US" dirty="0" err="1"/>
              <a:t>şərtdir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7284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8CD25866-F15D-40A4-AEC5-47C044637A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</p:grpSpPr>
        <p:sp>
          <p:nvSpPr>
            <p:cNvPr id="8" name="Freeform 11">
              <a:extLst>
                <a:ext uri="{FF2B5EF4-FFF2-40B4-BE49-F238E27FC236}">
                  <a16:creationId xmlns:a16="http://schemas.microsoft.com/office/drawing/2014/main" id="{DCB8E995-36E8-40B6-82D4-F52DE2987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12">
              <a:extLst>
                <a:ext uri="{FF2B5EF4-FFF2-40B4-BE49-F238E27FC236}">
                  <a16:creationId xmlns:a16="http://schemas.microsoft.com/office/drawing/2014/main" id="{DF54AEB5-68B5-46AE-B8F0-EEBE5DFED8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13">
              <a:extLst>
                <a:ext uri="{FF2B5EF4-FFF2-40B4-BE49-F238E27FC236}">
                  <a16:creationId xmlns:a16="http://schemas.microsoft.com/office/drawing/2014/main" id="{E3F708CB-F094-4EE7-8AD5-A462F1DF8B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14">
              <a:extLst>
                <a:ext uri="{FF2B5EF4-FFF2-40B4-BE49-F238E27FC236}">
                  <a16:creationId xmlns:a16="http://schemas.microsoft.com/office/drawing/2014/main" id="{ECFCFB22-E8B5-4FAC-A354-E7E0CE6F2B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5">
              <a:extLst>
                <a:ext uri="{FF2B5EF4-FFF2-40B4-BE49-F238E27FC236}">
                  <a16:creationId xmlns:a16="http://schemas.microsoft.com/office/drawing/2014/main" id="{ED1DB3B4-A6DC-476F-986E-DF361EE842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6">
              <a:extLst>
                <a:ext uri="{FF2B5EF4-FFF2-40B4-BE49-F238E27FC236}">
                  <a16:creationId xmlns:a16="http://schemas.microsoft.com/office/drawing/2014/main" id="{4EE13DFA-3489-4DE6-9154-34D9CB4005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7">
              <a:extLst>
                <a:ext uri="{FF2B5EF4-FFF2-40B4-BE49-F238E27FC236}">
                  <a16:creationId xmlns:a16="http://schemas.microsoft.com/office/drawing/2014/main" id="{5CD12D51-F9A8-4CC9-B9C9-206EAFD8C1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8">
              <a:extLst>
                <a:ext uri="{FF2B5EF4-FFF2-40B4-BE49-F238E27FC236}">
                  <a16:creationId xmlns:a16="http://schemas.microsoft.com/office/drawing/2014/main" id="{266B326C-1178-40F9-A265-6067D363B4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9">
              <a:extLst>
                <a:ext uri="{FF2B5EF4-FFF2-40B4-BE49-F238E27FC236}">
                  <a16:creationId xmlns:a16="http://schemas.microsoft.com/office/drawing/2014/main" id="{12F3B319-F00B-4755-BC54-95511E21DB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20">
              <a:extLst>
                <a:ext uri="{FF2B5EF4-FFF2-40B4-BE49-F238E27FC236}">
                  <a16:creationId xmlns:a16="http://schemas.microsoft.com/office/drawing/2014/main" id="{3079D7BD-8A3F-47F6-8407-D9DA96FF35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21">
              <a:extLst>
                <a:ext uri="{FF2B5EF4-FFF2-40B4-BE49-F238E27FC236}">
                  <a16:creationId xmlns:a16="http://schemas.microsoft.com/office/drawing/2014/main" id="{1F97C31C-8585-43FB-924B-8ADD651233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22">
              <a:extLst>
                <a:ext uri="{FF2B5EF4-FFF2-40B4-BE49-F238E27FC236}">
                  <a16:creationId xmlns:a16="http://schemas.microsoft.com/office/drawing/2014/main" id="{A33E1C89-7E74-49BF-A5D1-9A352ED03E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C4A17ED-96AA-44A6-A050-E1A7A1CDD9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786"/>
            <a:ext cx="2356675" cy="6854040"/>
            <a:chOff x="6627813" y="194833"/>
            <a:chExt cx="1952625" cy="5678918"/>
          </a:xfrm>
        </p:grpSpPr>
        <p:sp>
          <p:nvSpPr>
            <p:cNvPr id="22" name="Freeform 27">
              <a:extLst>
                <a:ext uri="{FF2B5EF4-FFF2-40B4-BE49-F238E27FC236}">
                  <a16:creationId xmlns:a16="http://schemas.microsoft.com/office/drawing/2014/main" id="{FBB2A87E-3E24-4A6F-9FD8-0F1436D4D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28">
              <a:extLst>
                <a:ext uri="{FF2B5EF4-FFF2-40B4-BE49-F238E27FC236}">
                  <a16:creationId xmlns:a16="http://schemas.microsoft.com/office/drawing/2014/main" id="{257F945B-2AA3-4328-BFF5-20DE64011B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29">
              <a:extLst>
                <a:ext uri="{FF2B5EF4-FFF2-40B4-BE49-F238E27FC236}">
                  <a16:creationId xmlns:a16="http://schemas.microsoft.com/office/drawing/2014/main" id="{E1A7230F-6A6F-403C-9D83-7176E28525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30">
              <a:extLst>
                <a:ext uri="{FF2B5EF4-FFF2-40B4-BE49-F238E27FC236}">
                  <a16:creationId xmlns:a16="http://schemas.microsoft.com/office/drawing/2014/main" id="{E33E315A-9CB0-460E-A8B7-0A064BBFA0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31">
              <a:extLst>
                <a:ext uri="{FF2B5EF4-FFF2-40B4-BE49-F238E27FC236}">
                  <a16:creationId xmlns:a16="http://schemas.microsoft.com/office/drawing/2014/main" id="{22CAAD33-CFAD-4E61-82AE-0C6F838530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32">
              <a:extLst>
                <a:ext uri="{FF2B5EF4-FFF2-40B4-BE49-F238E27FC236}">
                  <a16:creationId xmlns:a16="http://schemas.microsoft.com/office/drawing/2014/main" id="{1A20E13C-2540-4000-A13B-8F781100E3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33">
              <a:extLst>
                <a:ext uri="{FF2B5EF4-FFF2-40B4-BE49-F238E27FC236}">
                  <a16:creationId xmlns:a16="http://schemas.microsoft.com/office/drawing/2014/main" id="{51EF0A01-E03D-448B-B12E-D5BFC6D0D2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34">
              <a:extLst>
                <a:ext uri="{FF2B5EF4-FFF2-40B4-BE49-F238E27FC236}">
                  <a16:creationId xmlns:a16="http://schemas.microsoft.com/office/drawing/2014/main" id="{58286A03-168E-477B-8876-2C53E4950D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35">
              <a:extLst>
                <a:ext uri="{FF2B5EF4-FFF2-40B4-BE49-F238E27FC236}">
                  <a16:creationId xmlns:a16="http://schemas.microsoft.com/office/drawing/2014/main" id="{3DFFC705-1899-4E4C-AE76-F85BAF2F66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36">
              <a:extLst>
                <a:ext uri="{FF2B5EF4-FFF2-40B4-BE49-F238E27FC236}">
                  <a16:creationId xmlns:a16="http://schemas.microsoft.com/office/drawing/2014/main" id="{01C9598D-BDF6-4A24-83B6-4DCA4D1349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37">
              <a:extLst>
                <a:ext uri="{FF2B5EF4-FFF2-40B4-BE49-F238E27FC236}">
                  <a16:creationId xmlns:a16="http://schemas.microsoft.com/office/drawing/2014/main" id="{950C8213-67CD-4DEF-AA44-8BB3101392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38">
              <a:extLst>
                <a:ext uri="{FF2B5EF4-FFF2-40B4-BE49-F238E27FC236}">
                  <a16:creationId xmlns:a16="http://schemas.microsoft.com/office/drawing/2014/main" id="{2016FE1D-E3EB-4CF6-809B-159872CC78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CE6C63DC-BAE4-42B6-8FDF-F6467C2D2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7" name="Freeform 6">
            <a:extLst>
              <a:ext uri="{FF2B5EF4-FFF2-40B4-BE49-F238E27FC236}">
                <a16:creationId xmlns:a16="http://schemas.microsoft.com/office/drawing/2014/main" id="{5BD23F8E-2E78-4C84-8EFB-FE6C8ACB7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57ABABA7-0420-4200-9B65-1C1967CE93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317EBE3-FF86-4DA1-BC9A-331F7F2144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7A03E380-9CD1-4ABA-A763-9F9D252B89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6009967" y="0"/>
            <a:ext cx="6176982" cy="6853245"/>
            <a:chOff x="2487613" y="285750"/>
            <a:chExt cx="2428876" cy="5654676"/>
          </a:xfrm>
          <a:solidFill>
            <a:schemeClr val="bg2">
              <a:lumMod val="90000"/>
            </a:schemeClr>
          </a:solidFill>
        </p:grpSpPr>
        <p:sp>
          <p:nvSpPr>
            <p:cNvPr id="44" name="Freeform 11">
              <a:extLst>
                <a:ext uri="{FF2B5EF4-FFF2-40B4-BE49-F238E27FC236}">
                  <a16:creationId xmlns:a16="http://schemas.microsoft.com/office/drawing/2014/main" id="{66E01B84-4C2B-4DE5-90C8-9C4001A75B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12">
              <a:extLst>
                <a:ext uri="{FF2B5EF4-FFF2-40B4-BE49-F238E27FC236}">
                  <a16:creationId xmlns:a16="http://schemas.microsoft.com/office/drawing/2014/main" id="{64CE5A7A-D5C5-4FE5-860C-0B5748FDEE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13">
              <a:extLst>
                <a:ext uri="{FF2B5EF4-FFF2-40B4-BE49-F238E27FC236}">
                  <a16:creationId xmlns:a16="http://schemas.microsoft.com/office/drawing/2014/main" id="{016A7D2A-6EEA-47B8-A763-7D82E41B3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14">
              <a:extLst>
                <a:ext uri="{FF2B5EF4-FFF2-40B4-BE49-F238E27FC236}">
                  <a16:creationId xmlns:a16="http://schemas.microsoft.com/office/drawing/2014/main" id="{E758F6E7-6DEC-48D0-ACB1-E5E26B13E6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15">
              <a:extLst>
                <a:ext uri="{FF2B5EF4-FFF2-40B4-BE49-F238E27FC236}">
                  <a16:creationId xmlns:a16="http://schemas.microsoft.com/office/drawing/2014/main" id="{B56657FF-C027-42E7-859B-902929B6FA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16">
              <a:extLst>
                <a:ext uri="{FF2B5EF4-FFF2-40B4-BE49-F238E27FC236}">
                  <a16:creationId xmlns:a16="http://schemas.microsoft.com/office/drawing/2014/main" id="{79047F2A-5978-46C6-B3A2-54AAC2136B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17">
              <a:extLst>
                <a:ext uri="{FF2B5EF4-FFF2-40B4-BE49-F238E27FC236}">
                  <a16:creationId xmlns:a16="http://schemas.microsoft.com/office/drawing/2014/main" id="{F3BE8FD1-0A72-4640-AC7A-2E057273F8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18">
              <a:extLst>
                <a:ext uri="{FF2B5EF4-FFF2-40B4-BE49-F238E27FC236}">
                  <a16:creationId xmlns:a16="http://schemas.microsoft.com/office/drawing/2014/main" id="{752FC782-A372-4D11-B20D-958955E564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Freeform 19">
              <a:extLst>
                <a:ext uri="{FF2B5EF4-FFF2-40B4-BE49-F238E27FC236}">
                  <a16:creationId xmlns:a16="http://schemas.microsoft.com/office/drawing/2014/main" id="{AA00B2F1-BEE2-444A-8249-C8E3212CA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4" y="468286"/>
              <a:ext cx="1768475" cy="4262464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20">
              <a:extLst>
                <a:ext uri="{FF2B5EF4-FFF2-40B4-BE49-F238E27FC236}">
                  <a16:creationId xmlns:a16="http://schemas.microsoft.com/office/drawing/2014/main" id="{E7F5747E-514B-4CF7-B6B0-DAD7149097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21">
              <a:extLst>
                <a:ext uri="{FF2B5EF4-FFF2-40B4-BE49-F238E27FC236}">
                  <a16:creationId xmlns:a16="http://schemas.microsoft.com/office/drawing/2014/main" id="{931614BB-1593-40ED-8113-2BD1187055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22">
              <a:extLst>
                <a:ext uri="{FF2B5EF4-FFF2-40B4-BE49-F238E27FC236}">
                  <a16:creationId xmlns:a16="http://schemas.microsoft.com/office/drawing/2014/main" id="{2691871F-F15C-4E19-BC9C-78E5748D74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75EC00D-CD4C-E16D-A9FE-E2FAB4249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4103" y="1318591"/>
            <a:ext cx="5800929" cy="42208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6600">
                <a:solidFill>
                  <a:schemeClr val="tx2">
                    <a:lumMod val="75000"/>
                  </a:schemeClr>
                </a:solidFill>
              </a:rPr>
              <a:t>Diqqətiniz üçün təşəkkürlər!</a:t>
            </a: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34D43EC1-35FA-4FC3-8526-F655CEB09D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37196" y="1871831"/>
            <a:ext cx="0" cy="3200400"/>
          </a:xfrm>
          <a:prstGeom prst="line">
            <a:avLst/>
          </a:prstGeom>
          <a:ln w="158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7455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Wisp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86</TotalTime>
  <Words>588</Words>
  <Application>Microsoft Office PowerPoint</Application>
  <PresentationFormat>Widescreen</PresentationFormat>
  <Paragraphs>77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Century Gothic</vt:lpstr>
      <vt:lpstr>Wingdings 3</vt:lpstr>
      <vt:lpstr>Wisp</vt:lpstr>
      <vt:lpstr>Retail Sales Analysis</vt:lpstr>
      <vt:lpstr>İstifadə olunan datasetlər:</vt:lpstr>
      <vt:lpstr>Receipts Datası</vt:lpstr>
      <vt:lpstr>Map Datası</vt:lpstr>
      <vt:lpstr>Full_tab Datası</vt:lpstr>
      <vt:lpstr>Total Sales üzrə Statistik Xülasə</vt:lpstr>
      <vt:lpstr>Profit üzrə Statistik Xülasə</vt:lpstr>
      <vt:lpstr>Profit Margin üzrə Əlavə Təhlil</vt:lpstr>
      <vt:lpstr>Ən Yüksək Gəlir və Mənfəət Qəbzləri </vt:lpstr>
      <vt:lpstr>Anomaliyalar</vt:lpstr>
      <vt:lpstr>Həftənin günlərinə görə satış və mənfəət</vt:lpstr>
      <vt:lpstr>POS üzrə Top 5 satış və mənfəət</vt:lpstr>
      <vt:lpstr>Tarixlər üzrə qəbz, satış və mənfəət</vt:lpstr>
      <vt:lpstr>Proqnoz və Fərziyyələr</vt:lpstr>
      <vt:lpstr>Regressiya Modeli</vt:lpstr>
      <vt:lpstr>Kateqoriyalar üzrə müqayisə</vt:lpstr>
      <vt:lpstr>Total Sales və Profit əlaqəsi</vt:lpstr>
      <vt:lpstr>Xülasə</vt:lpstr>
      <vt:lpstr>Diqqətiniz üçün təşəkkürlər!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Seyidshah Muradov</dc:creator>
  <cp:lastModifiedBy>Seyidshah Muradov</cp:lastModifiedBy>
  <cp:revision>2</cp:revision>
  <dcterms:created xsi:type="dcterms:W3CDTF">2025-10-26T18:28:02Z</dcterms:created>
  <dcterms:modified xsi:type="dcterms:W3CDTF">2026-10-23T14:44:37Z</dcterms:modified>
</cp:coreProperties>
</file>